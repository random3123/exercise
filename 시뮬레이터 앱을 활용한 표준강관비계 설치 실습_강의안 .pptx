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4"/>
  </p:notesMasterIdLst>
  <p:handoutMasterIdLst>
    <p:handoutMasterId r:id="rId25"/>
  </p:handoutMasterIdLst>
  <p:sldIdLst>
    <p:sldId id="262" r:id="rId2"/>
    <p:sldId id="1062" r:id="rId3"/>
    <p:sldId id="1039" r:id="rId4"/>
    <p:sldId id="1060" r:id="rId5"/>
    <p:sldId id="273" r:id="rId6"/>
    <p:sldId id="468" r:id="rId7"/>
    <p:sldId id="508" r:id="rId8"/>
    <p:sldId id="1041" r:id="rId9"/>
    <p:sldId id="1043" r:id="rId10"/>
    <p:sldId id="1045" r:id="rId11"/>
    <p:sldId id="1047" r:id="rId12"/>
    <p:sldId id="1049" r:id="rId13"/>
    <p:sldId id="1051" r:id="rId14"/>
    <p:sldId id="1053" r:id="rId15"/>
    <p:sldId id="1055" r:id="rId16"/>
    <p:sldId id="1057" r:id="rId17"/>
    <p:sldId id="1031" r:id="rId18"/>
    <p:sldId id="1059" r:id="rId19"/>
    <p:sldId id="1061" r:id="rId20"/>
    <p:sldId id="278" r:id="rId21"/>
    <p:sldId id="277" r:id="rId22"/>
    <p:sldId id="274" r:id="rId23"/>
  </p:sldIdLst>
  <p:sldSz cx="12192000" cy="6858000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844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7F7F7F"/>
    <a:srgbClr val="D9D9D9"/>
    <a:srgbClr val="F2F2F2"/>
    <a:srgbClr val="014B9D"/>
    <a:srgbClr val="316DA5"/>
    <a:srgbClr val="00319E"/>
    <a:srgbClr val="F9F9F9"/>
    <a:srgbClr val="FFFFFF"/>
    <a:srgbClr val="014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87215" autoAdjust="0"/>
  </p:normalViewPr>
  <p:slideViewPr>
    <p:cSldViewPr>
      <p:cViewPr varScale="1">
        <p:scale>
          <a:sx n="88" d="100"/>
          <a:sy n="88" d="100"/>
        </p:scale>
        <p:origin x="798" y="780"/>
      </p:cViewPr>
      <p:guideLst>
        <p:guide orient="horz" pos="2160"/>
        <p:guide pos="1844"/>
        <p:guide pos="3940"/>
      </p:guideLst>
    </p:cSldViewPr>
  </p:slideViewPr>
  <p:outlineViewPr>
    <p:cViewPr>
      <p:scale>
        <a:sx n="33" d="100"/>
        <a:sy n="33" d="100"/>
      </p:scale>
      <p:origin x="0" y="-1275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40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687" cy="498966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322" y="0"/>
            <a:ext cx="2949686" cy="498966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r">
              <a:defRPr sz="1200"/>
            </a:lvl1pPr>
          </a:lstStyle>
          <a:p>
            <a:fld id="{821C3EDB-6DD3-4AA8-B940-49B1BBEC92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372"/>
            <a:ext cx="2949687" cy="498966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322" y="9440372"/>
            <a:ext cx="2949686" cy="498966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r">
              <a:defRPr sz="1200"/>
            </a:lvl1pPr>
          </a:lstStyle>
          <a:p>
            <a:fld id="{A9C841C7-1F3F-48E8-A9BB-D8AD70D2FB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629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r">
              <a:defRPr sz="1200"/>
            </a:lvl1pPr>
          </a:lstStyle>
          <a:p>
            <a:fld id="{F16FD5B2-8AD3-438F-817C-6110B2E6A792}" type="datetimeFigureOut">
              <a:rPr lang="ko-KR" altLang="en-US" smtClean="0"/>
              <a:pPr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3098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26" tIns="46113" rIns="92226" bIns="461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7"/>
            <a:ext cx="5444490" cy="4472702"/>
          </a:xfrm>
          <a:prstGeom prst="rect">
            <a:avLst/>
          </a:prstGeom>
        </p:spPr>
        <p:txBody>
          <a:bodyPr vert="horz" lIns="92226" tIns="46113" rIns="92226" bIns="4611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r">
              <a:defRPr sz="1200"/>
            </a:lvl1pPr>
          </a:lstStyle>
          <a:p>
            <a:fld id="{2E712076-A41D-41E7-9DD0-2DD50BEC6B6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34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○ 강사소개</a:t>
            </a:r>
          </a:p>
          <a:p>
            <a:r>
              <a:t>○ 출석점검 및 학습을 위한 주의 환기</a:t>
            </a:r>
          </a:p>
          <a:p>
            <a:r>
              <a:t>○ 교재 및 유인물 배부: 개인 스마트폰(또는 PC)으로 「표준 강관 비계 설치 시뮬레이터」 접속 준비 안내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73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900" y="742950"/>
            <a:ext cx="6619875" cy="3724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56C9F7-9988-4B48-AC4B-58557ED4BB5D}" type="slidenum">
              <a:rPr kumimoji="1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ko-KR" altLang="en-US" sz="13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813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숫자와 목차 띄어쓰기 정렬 필요 </a:t>
            </a:r>
            <a:r>
              <a:rPr lang="en-US" altLang="ko-KR" dirty="0"/>
              <a:t>(</a:t>
            </a:r>
            <a:r>
              <a:rPr lang="ko-KR" altLang="en-US" dirty="0"/>
              <a:t>폰트사이즈 통일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390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FADB-7599-67AA-7719-D2200EEC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818CAA-E2EA-A627-FC70-361DBF87B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49D9D3-D244-A829-E819-A99DA59F3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○ </a:t>
            </a:r>
            <a:r>
              <a:rPr dirty="0" err="1"/>
              <a:t>강의</a:t>
            </a:r>
            <a:r>
              <a:rPr dirty="0"/>
              <a:t> </a:t>
            </a:r>
            <a:r>
              <a:rPr dirty="0" err="1"/>
              <a:t>주제와</a:t>
            </a:r>
            <a:r>
              <a:rPr dirty="0"/>
              <a:t> </a:t>
            </a:r>
            <a:r>
              <a:rPr err="1"/>
              <a:t>관련된</a:t>
            </a:r>
            <a:r>
              <a:t> </a:t>
            </a:r>
            <a:r>
              <a:rPr lang="ko-KR" altLang="en-US"/>
              <a:t>사진에서 각 비계마다 이름을 알고있는지 확인</a:t>
            </a:r>
            <a:endParaRPr lang="en-US" altLang="ko-KR"/>
          </a:p>
          <a:p>
            <a:r>
              <a:rPr lang="ko-KR" altLang="en-US"/>
              <a:t>○ 각 강관의 명칭을 수업종료 후 각자 체점을 통해 확인</a:t>
            </a:r>
            <a:endParaRPr lang="en-US" altLang="ko-KR"/>
          </a:p>
          <a:p>
            <a:r>
              <a:rPr lang="en-US"/>
              <a:t>    </a:t>
            </a:r>
            <a:r>
              <a:rPr lang="en-US" altLang="ko-KR"/>
              <a:t>- </a:t>
            </a:r>
            <a:r>
              <a:rPr lang="ko-KR" altLang="en-US"/>
              <a:t>자신이 얼마나 맞췄는지 강의 시 궁금증 유발 및 참여도 증가 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1F59D1-819E-6FD9-BEB1-A501C106A4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2264">
              <a:defRPr/>
            </a:pPr>
            <a:fld id="{809F96CD-B97F-4C47-A5DF-BAAFF72CA531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22264">
                <a:defRPr/>
              </a:pPr>
              <a:t>4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1054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○ 학습목표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55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4908">
              <a:defRPr/>
            </a:pPr>
            <a:r>
              <a:rPr lang="ko-KR" altLang="en-US" dirty="0"/>
              <a:t>학습목표 위치 </a:t>
            </a:r>
            <a:r>
              <a:rPr lang="en-US" altLang="ko-KR" dirty="0"/>
              <a:t>- </a:t>
            </a:r>
          </a:p>
          <a:p>
            <a:pPr defTabSz="954908">
              <a:defRPr/>
            </a:pPr>
            <a:r>
              <a:rPr lang="ko-KR" altLang="en-US" dirty="0"/>
              <a:t>이전 페이지</a:t>
            </a:r>
            <a:r>
              <a:rPr lang="en-US" altLang="ko-KR" dirty="0"/>
              <a:t>(</a:t>
            </a:r>
            <a:r>
              <a:rPr lang="ko-KR" altLang="en-US" dirty="0"/>
              <a:t>목차</a:t>
            </a:r>
            <a:r>
              <a:rPr lang="en-US" altLang="ko-KR" dirty="0"/>
              <a:t>) </a:t>
            </a:r>
            <a:r>
              <a:rPr lang="ko-KR" altLang="en-US" dirty="0"/>
              <a:t>학습제목</a:t>
            </a:r>
            <a:r>
              <a:rPr lang="en-US" altLang="ko-KR" dirty="0"/>
              <a:t>1 </a:t>
            </a:r>
            <a:r>
              <a:rPr lang="ko-KR" altLang="en-US" dirty="0"/>
              <a:t>과 일치 되어야 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12076-A41D-41E7-9DD0-2DD50BEC6B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464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7963" y="795338"/>
            <a:ext cx="7077075" cy="3981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[소요시간] 1분</a:t>
            </a:r>
          </a:p>
          <a:p>
            <a:r>
              <a:t>[진행] 완성 모델 캡처로 강관비계 전체 모습을 보여주고, 오른쪽 9개 부위를 조립 </a:t>
            </a:r>
            <a:r>
              <a:rPr lang="ko-KR" altLang="en-US"/>
              <a:t>순서 안내</a:t>
            </a:r>
            <a:r>
              <a:t>. </a:t>
            </a:r>
          </a:p>
          <a:p>
            <a:r>
              <a:t>[앱 연계] 교육생이 시뮬레이터에 접속해 [시뮬레이터 시작]을 누르고 대기하게 한다. 이후 슬라이드 순서에 맞춰 한 부위씩 함께 설치한다.</a:t>
            </a:r>
          </a:p>
          <a:p>
            <a:r>
              <a:t>[교보재] 표준 강관 비계 설치 시뮬레이터 (홈 화면 「자재 용어 사전」 참고)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731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[밑받침 철물]을(를) 설치하는 동안 용어 정의와 하는 일을 설명한다.</a:t>
            </a:r>
          </a:p>
          <a:p>
            <a:r>
              <a:t> - 밑받침 철물(Base Plate): 비계 기둥 하부에 설치하여 구조물의 하중을 지면에 균등하게 분산시키고, 기둥의 침하와 미끄러짐을 막는 기초 부품</a:t>
            </a:r>
          </a:p>
          <a:p>
            <a:r>
              <a:t>[앱 연계] 틀린 부품을 누르면 경고가 뜨는 것을 확인하게 하고, 설치 후 밑받침 철물이(가) 전체 구조에서 어디에 있는지 화면을 돌려 보게 한다.</a:t>
            </a:r>
          </a:p>
          <a:p>
            <a:r>
              <a:t>[교보재] 시뮬레이터 「자재 용어 사전」 밑받침 철물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[기둥]을(를) 설치하는 동안 용어 정의와 하는 일을 설명한다.</a:t>
            </a:r>
          </a:p>
          <a:p>
            <a:r>
              <a:t> - 기둥(Standard): 비계의 세로 축을 이루며, 상부의 모든 작업 하중을 지면으로 수직 전달하는 핵심 수직 골조 파이프</a:t>
            </a:r>
          </a:p>
          <a:p>
            <a:r>
              <a:t>[앱 연계] 틀린 부품을 누르면 경고가 뜨는 것을 확인하게 하고, 설치 후 기둥이(가) 전체 구조에서 어디에 있는지 화면을 돌려 보게 한다.</a:t>
            </a:r>
          </a:p>
          <a:p>
            <a:r>
              <a:t>[교보재] 시뮬레이터 「자재 용어 사전」 기둥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[밑둥잡이]을(를) 설치하는 동안 용어 정의와 하는 일을 설명한다.</a:t>
            </a:r>
          </a:p>
          <a:p>
            <a:r>
              <a:t> - 밑둥잡이(Foot Tie): 비계의 뒤틀림과 벌어짐을 막기 위해 밑받침 철물 바로 위, 지면과 가장 가까운 곳에 설치하는 첫 번째 하부 수평재</a:t>
            </a:r>
          </a:p>
          <a:p>
            <a:r>
              <a:t>[앱 연계] 틀린 부품을 누르면 경고가 뜨는 것을 확인하게 하고, 설치 후 밑둥잡이이(가) 전체 구조에서 어디에 있는지 화면을 돌려 보게 한다.</a:t>
            </a:r>
          </a:p>
          <a:p>
            <a:r>
              <a:t>[교보재] 시뮬레이터 「자재 용어 사전」 밑둥잡이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[띠장]을(를) 설치하는 동안 용어 정의와 하는 일을 설명한다.</a:t>
            </a:r>
          </a:p>
          <a:p>
            <a:r>
              <a:t> - 띠장(Ledger): 기둥과 기둥을 가로(길이) 방향으로 길게 연결하여 무너짐을 막고, 비계 좌우 측면의 강성을 확보하는 주요 수평재</a:t>
            </a:r>
          </a:p>
          <a:p>
            <a:r>
              <a:t>[앱 연계] 틀린 부품을 누르면 경고가 뜨는 것을 확인하게 하고, 설치 후 띠장이(가) 전체 구조에서 어디에 있는지 화면을 돌려 보게 한다.</a:t>
            </a:r>
          </a:p>
          <a:p>
            <a:r>
              <a:t>[교보재] 시뮬레이터 「자재 용어 사전」 띠장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[장선]을(를) 설치하는 동안 용어 정의와 하는 일을 설명한다.</a:t>
            </a:r>
          </a:p>
          <a:p>
            <a:r>
              <a:t> - 장선(Transom): 띠장 위를 앞뒤로 가로질러 설치하는 짧은 수평 파이프로, 작업발판이 놓일 자리를 받쳐 주는 부재</a:t>
            </a:r>
          </a:p>
          <a:p>
            <a:r>
              <a:t>[앱 연계] 틀린 부품을 누르면 경고가 뜨는 것을 확인하게 하고, 설치 후 장선이(가) 전체 구조에서 어디에 있는지 화면을 돌려 보게 한다.</a:t>
            </a:r>
          </a:p>
          <a:p>
            <a:r>
              <a:t>[교보재] 시뮬레이터 「자재 용어 사전」 장선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[가새]을(를) 설치하는 동안 용어 정의와 하는 일을 설명한다.</a:t>
            </a:r>
          </a:p>
          <a:p>
            <a:r>
              <a:t> - 가새(Bracing): 비계의 수평 변형·비틀림·쓰러짐을 막기 위해 기둥과 수평재에 대각선(경사)으로 체결하는 보강재</a:t>
            </a:r>
          </a:p>
          <a:p>
            <a:r>
              <a:t>[앱 연계] 틀린 부품을 누르면 경고가 뜨는 것을 확인하게 하고, 설치 후 가새이(가) 전체 구조에서 어디에 있는지 화면을 돌려 보게 한다.</a:t>
            </a:r>
          </a:p>
          <a:p>
            <a:r>
              <a:t>[교보재] 시뮬레이터 「자재 용어 사전」 가새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[사다리]을(를) 설치하는 동안 용어 정의와 하는 일을 설명한다.</a:t>
            </a:r>
          </a:p>
          <a:p>
            <a:r>
              <a:t> - 사다리(Ladder): 작업자가 하부에서 작업발판 층으로 안전하게 오르내릴 수 있도록 비계에 견고하게 결속하는 승강 통로</a:t>
            </a:r>
          </a:p>
          <a:p>
            <a:r>
              <a:t>[앱 연계] 틀린 부품을 누르면 경고가 뜨는 것을 확인하게 하고, 설치 후 사다리이(가) 전체 구조에서 어디에 있는지 화면을 돌려 보게 한다.</a:t>
            </a:r>
          </a:p>
          <a:p>
            <a:r>
              <a:t>[교보재] 시뮬레이터 「자재 용어 사전」 사다리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[작업발판]을(를) 설치하는 동안 용어 정의와 하는 일을 설명한다.</a:t>
            </a:r>
          </a:p>
          <a:p>
            <a:r>
              <a:t> - 작업발판(Platform): 작업자가 서서 통행하고 작업하는 바닥재로, 장선 위에 깔고 양 끝의 붉은 후크를 걸어 고정하는 강판</a:t>
            </a:r>
          </a:p>
          <a:p>
            <a:r>
              <a:t>[앱 연계] 틀린 부품을 누르면 경고가 뜨는 것을 확인하게 하고, 설치 후 작업발판이(가) 전체 구조에서 어디에 있는지 화면을 돌려 보게 한다.</a:t>
            </a:r>
          </a:p>
          <a:p>
            <a:r>
              <a:t>[교보재] 시뮬레이터 「자재 용어 사전」 작업발판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40초</a:t>
            </a:r>
          </a:p>
          <a:p>
            <a:r>
              <a:t>[진행] 교육생이 앱에서 [안전난간]을(를) 설치하는 동안 용어 정의와 하는 일을 설명한다.</a:t>
            </a:r>
          </a:p>
          <a:p>
            <a:r>
              <a:t> - 안전난간(Guardrail): 발판 위 작업자가 밖으로 떨어지지 않도록 상부 난간대·중간 난간대·발끝막이판으로 구성하는 추락 방지 울타리</a:t>
            </a:r>
          </a:p>
          <a:p>
            <a:r>
              <a:t>[앱 연계] 틀린 부품을 누르면 경고가 뜨는 것을 확인하게 하고, 설치 후 안전난간이(가) 전체 구조에서 어디에 있는지 화면을 돌려 보게 한다.</a:t>
            </a:r>
          </a:p>
          <a:p>
            <a:r>
              <a:t>[교보재] 시뮬레이터 「자재 용어 사전」 안전난간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2264">
              <a:defRPr/>
            </a:pPr>
            <a:r>
              <a:rPr lang="ko-KR" altLang="en-US"/>
              <a:t>정리하기</a:t>
            </a:r>
            <a:endParaRPr lang="en-US" altLang="ko-KR"/>
          </a:p>
          <a:p>
            <a:pPr defTabSz="922264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2264">
              <a:defRPr/>
            </a:pPr>
            <a:fld id="{2E712076-A41D-41E7-9DD0-2DD50BEC6B62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22264">
                <a:defRPr/>
              </a:pPr>
              <a:t>17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9847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[소요시간] 1분</a:t>
            </a:r>
          </a:p>
          <a:p>
            <a:r>
              <a:t>[진행] 9개 부위의 핵심 치수를 표로 다시 짚는다. 시험 대비용 한 장임을 강조한다.</a:t>
            </a:r>
          </a:p>
          <a:p>
            <a:r>
              <a:t> - 기준을 지킬 수 없는 현장(장애물, 협소 공간 등)에서는 임의 시공 금지 → 구조 검토 → 조립도 승인 → 도면대로 시공 절차를 따른다.</a:t>
            </a:r>
          </a:p>
          <a:p>
            <a:r>
              <a:t>[앱 연계] 시뮬레이터 홈 화면 「표준 예외 상황 대처 프로세스」 메뉴로 절차를 다시 확인하게 한다.</a:t>
            </a:r>
          </a:p>
          <a:p>
            <a:r>
              <a:t>[이해도 점검 질문] 가새 각도, 발판 틈새, 난간 높이 중 하나를 무작위로 물어본다.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8D33-4F2E-00C7-9663-D909D973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4840B-F3D5-EAD4-E431-AE082CC23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66C5AD-5753-C50C-3EBD-0BE1D037E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○ 이해도 점검을 위한 질문</a:t>
            </a:r>
          </a:p>
          <a:p>
            <a:r>
              <a:rPr lang="ko-KR" altLang="en-US"/>
              <a:t> </a:t>
            </a:r>
            <a:r>
              <a:rPr lang="en-US" altLang="ko-KR"/>
              <a:t>1. </a:t>
            </a:r>
            <a:r>
              <a:rPr lang="ko-KR" altLang="en-US"/>
              <a:t>비계기둥 간격은 띠장방향</a:t>
            </a:r>
            <a:r>
              <a:rPr lang="en-US" altLang="ko-KR"/>
              <a:t>·</a:t>
            </a:r>
            <a:r>
              <a:rPr lang="ko-KR" altLang="en-US"/>
              <a:t>장선방향 각각 얼마 이하인가</a:t>
            </a:r>
            <a:r>
              <a:rPr lang="en-US" altLang="ko-KR"/>
              <a:t>? (1.85m / 1.5m)</a:t>
            </a:r>
          </a:p>
          <a:p>
            <a:r>
              <a:rPr lang="en-US" altLang="ko-KR"/>
              <a:t> 2. </a:t>
            </a:r>
            <a:r>
              <a:rPr lang="ko-KR" altLang="en-US"/>
              <a:t>가새의 설치 각도 범위는</a:t>
            </a:r>
            <a:r>
              <a:rPr lang="en-US" altLang="ko-KR"/>
              <a:t>? (</a:t>
            </a:r>
            <a:r>
              <a:rPr lang="ko-KR" altLang="en-US"/>
              <a:t>수평면에 대해 </a:t>
            </a:r>
            <a:r>
              <a:rPr lang="en-US" altLang="ko-KR"/>
              <a:t>40°~60°)</a:t>
            </a:r>
          </a:p>
          <a:p>
            <a:r>
              <a:rPr lang="en-US" altLang="ko-KR"/>
              <a:t> 3. </a:t>
            </a:r>
            <a:r>
              <a:rPr lang="ko-KR" altLang="en-US"/>
              <a:t>작업발판 폭 </a:t>
            </a:r>
            <a:r>
              <a:rPr lang="en-US" altLang="ko-KR"/>
              <a:t>400mm</a:t>
            </a:r>
            <a:r>
              <a:rPr lang="ko-KR" altLang="en-US"/>
              <a:t>가 </a:t>
            </a:r>
            <a:r>
              <a:rPr lang="en-US" altLang="ko-KR"/>
              <a:t>4</a:t>
            </a:r>
            <a:r>
              <a:rPr lang="ko-KR" altLang="en-US"/>
              <a:t>장 깔렸다면 의심할 기준 위반은</a:t>
            </a:r>
            <a:r>
              <a:rPr lang="en-US" altLang="ko-KR"/>
              <a:t>? (</a:t>
            </a:r>
            <a:r>
              <a:rPr lang="ko-KR" altLang="en-US"/>
              <a:t>장선방향 기둥 간격 </a:t>
            </a:r>
            <a:r>
              <a:rPr lang="en-US" altLang="ko-KR"/>
              <a:t>1.5m </a:t>
            </a:r>
            <a:r>
              <a:rPr lang="ko-KR" altLang="en-US"/>
              <a:t>초과</a:t>
            </a:r>
            <a:r>
              <a:rPr lang="en-US" altLang="ko-KR"/>
              <a:t>)</a:t>
            </a:r>
          </a:p>
          <a:p>
            <a:r>
              <a:rPr lang="en-US" altLang="ko-KR"/>
              <a:t>○ </a:t>
            </a:r>
            <a:r>
              <a:rPr lang="ko-KR" altLang="en-US"/>
              <a:t>교육생 질의에 대한 답변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455BC-7073-919B-C010-7D7344AB9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898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20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303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21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40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-391640" y="-1094742"/>
            <a:ext cx="11992131" cy="9207342"/>
            <a:chOff x="-293730" y="-1094742"/>
            <a:chExt cx="8994098" cy="9207342"/>
          </a:xfrm>
        </p:grpSpPr>
        <p:sp>
          <p:nvSpPr>
            <p:cNvPr id="10" name="평행 사변형 9"/>
            <p:cNvSpPr/>
            <p:nvPr userDrawn="1"/>
          </p:nvSpPr>
          <p:spPr>
            <a:xfrm>
              <a:off x="3173688" y="0"/>
              <a:ext cx="4372548" cy="2128603"/>
            </a:xfrm>
            <a:prstGeom prst="parallelogram">
              <a:avLst/>
            </a:prstGeom>
            <a:solidFill>
              <a:srgbClr val="005696"/>
            </a:solidFill>
            <a:ln>
              <a:noFill/>
            </a:ln>
            <a:effectLst>
              <a:outerShdw blurRad="1270000" dir="4860000" sx="68000" sy="68000" algn="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4" name="평행 사변형 13"/>
            <p:cNvSpPr/>
            <p:nvPr userDrawn="1"/>
          </p:nvSpPr>
          <p:spPr>
            <a:xfrm>
              <a:off x="1914513" y="-1"/>
              <a:ext cx="5002135" cy="2128603"/>
            </a:xfrm>
            <a:prstGeom prst="parallelogram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0" dist="38100" dir="9360000" sx="103000" sy="103000" algn="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5" name="평행 사변형 14"/>
            <p:cNvSpPr/>
            <p:nvPr userDrawn="1"/>
          </p:nvSpPr>
          <p:spPr>
            <a:xfrm>
              <a:off x="1518253" y="719529"/>
              <a:ext cx="2186924" cy="1743268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  <a:effectLst>
              <a:outerShdw blurRad="1270000" dist="38100" dir="9360000" sx="103000" sy="103000" algn="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6" name="원호 15"/>
            <p:cNvSpPr/>
            <p:nvPr userDrawn="1"/>
          </p:nvSpPr>
          <p:spPr>
            <a:xfrm rot="16468279">
              <a:off x="96450" y="-491317"/>
              <a:ext cx="8213737" cy="8994098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3200">
                    <a:srgbClr val="FBFCFE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원호 16"/>
            <p:cNvSpPr/>
            <p:nvPr userDrawn="1"/>
          </p:nvSpPr>
          <p:spPr>
            <a:xfrm rot="1800000">
              <a:off x="2278259" y="-1094742"/>
              <a:ext cx="3711465" cy="4064079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3200">
                    <a:srgbClr val="FBFCFE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8" name="원호 17"/>
            <p:cNvSpPr/>
            <p:nvPr userDrawn="1"/>
          </p:nvSpPr>
          <p:spPr>
            <a:xfrm rot="20886959">
              <a:off x="2486837" y="-34694"/>
              <a:ext cx="3711465" cy="4064079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3200">
                    <a:srgbClr val="FBFCFE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9" name="원호 18"/>
            <p:cNvSpPr/>
            <p:nvPr userDrawn="1"/>
          </p:nvSpPr>
          <p:spPr>
            <a:xfrm rot="10000697">
              <a:off x="183333" y="894827"/>
              <a:ext cx="5621375" cy="6155443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85000">
                    <a:srgbClr val="D9D9D9"/>
                  </a:gs>
                  <a:gs pos="19000">
                    <a:srgbClr val="DEE0E2"/>
                  </a:gs>
                  <a:gs pos="53200">
                    <a:schemeClr val="bg1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  <p:sp>
        <p:nvSpPr>
          <p:cNvPr id="20" name="슬라이드 번호 개체 틀 1">
            <a:extLst>
              <a:ext uri="{FF2B5EF4-FFF2-40B4-BE49-F238E27FC236}">
                <a16:creationId xmlns:a16="http://schemas.microsoft.com/office/drawing/2014/main" id="{28F3172A-18E1-4046-8FAD-55766573D5B4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39EF267-D11A-4D3D-97F5-AB0049D976E8}"/>
              </a:ext>
            </a:extLst>
          </p:cNvPr>
          <p:cNvGrpSpPr/>
          <p:nvPr userDrawn="1"/>
        </p:nvGrpSpPr>
        <p:grpSpPr>
          <a:xfrm>
            <a:off x="10167726" y="6403147"/>
            <a:ext cx="1734687" cy="454853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793E9BB-885F-47D3-AB00-1C21487F9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07A574-0D40-4A89-8DAC-D97A0D196E00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635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" y="1757"/>
            <a:ext cx="2525487" cy="6856243"/>
          </a:xfrm>
          <a:prstGeom prst="rect">
            <a:avLst/>
          </a:prstGeom>
          <a:gradFill flip="none" rotWithShape="1">
            <a:gsLst>
              <a:gs pos="0">
                <a:srgbClr val="1C1B1F"/>
              </a:gs>
              <a:gs pos="100000">
                <a:schemeClr val="tx2">
                  <a:lumMod val="50000"/>
                  <a:alpha val="9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cxnSp>
        <p:nvCxnSpPr>
          <p:cNvPr id="4" name="직선 연결선 3"/>
          <p:cNvCxnSpPr/>
          <p:nvPr userDrawn="1"/>
        </p:nvCxnSpPr>
        <p:spPr>
          <a:xfrm flipV="1">
            <a:off x="1542128" y="2046296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417064" y="532092"/>
            <a:ext cx="1108662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 flipV="1">
            <a:off x="-1167640" y="1662706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flipV="1">
            <a:off x="-483695" y="5830882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-1120250" y="-530648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"/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70B9C6E-C8CC-47D9-BC5D-4DBD1E5AFA86}"/>
              </a:ext>
            </a:extLst>
          </p:cNvPr>
          <p:cNvSpPr txBox="1">
            <a:spLocks/>
          </p:cNvSpPr>
          <p:nvPr userDrawn="1"/>
        </p:nvSpPr>
        <p:spPr>
          <a:xfrm>
            <a:off x="623392" y="659341"/>
            <a:ext cx="1581318" cy="3447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txBody>
          <a:bodyPr vert="horz" wrap="square" lIns="0" tIns="0" rIns="0" bIns="0" rtlCol="0" anchor="ctr">
            <a:spAutoFit/>
            <a:sp3d prstMaterial="softEdge">
              <a:bevelT w="1270" h="1270"/>
              <a:contourClr>
                <a:schemeClr val="accent4">
                  <a:alpha val="95000"/>
                </a:schemeClr>
              </a:contourClr>
            </a:sp3d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400" b="1" kern="1200" spc="-100" baseline="0" dirty="0">
                <a:ln>
                  <a:prstDash val="solid"/>
                </a:ln>
                <a:solidFill>
                  <a:srgbClr val="0070C0"/>
                </a:solidFill>
                <a:effectLst/>
                <a:latin typeface="Tahoma" pitchFamily="34" charset="0"/>
                <a:ea typeface="-윤고딕150" pitchFamily="18" charset="-127"/>
                <a:cs typeface="Tahoma" pitchFamily="34" charset="0"/>
              </a:defRPr>
            </a:lvl1pPr>
          </a:lstStyle>
          <a:p>
            <a:pPr defTabSz="995690">
              <a:lnSpc>
                <a:spcPct val="80000"/>
              </a:lnSpc>
              <a:tabLst>
                <a:tab pos="177800" algn="l"/>
                <a:tab pos="803275" algn="l"/>
              </a:tabLst>
            </a:pPr>
            <a:r>
              <a:rPr lang="ko-KR" altLang="en-US" sz="2800" dirty="0">
                <a:solidFill>
                  <a:prstClr val="white">
                    <a:lumMod val="85000"/>
                  </a:prstClr>
                </a:solidFill>
                <a:latin typeface="+mj-lt"/>
                <a:ea typeface="HY견고딕" panose="02030600000101010101" pitchFamily="18" charset="-127"/>
              </a:rPr>
              <a:t>학습목표</a:t>
            </a:r>
            <a:endParaRPr lang="en-US" sz="2800" dirty="0">
              <a:solidFill>
                <a:prstClr val="white">
                  <a:lumMod val="85000"/>
                </a:prstClr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DAFB165-3201-4CF9-928D-BCE19A87F1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6408" y="600088"/>
            <a:ext cx="8712200" cy="5565195"/>
          </a:xfrm>
        </p:spPr>
        <p:txBody>
          <a:bodyPr/>
          <a:lstStyle>
            <a:lvl1pPr marL="361950" indent="-361950">
              <a:lnSpc>
                <a:spcPct val="200000"/>
              </a:lnSpc>
              <a:buFont typeface="+mj-lt"/>
              <a:buAutoNum type="arabicPeriod"/>
              <a:defRPr sz="2400"/>
            </a:lvl1pPr>
            <a:lvl2pPr marL="971550" indent="-514350">
              <a:buFont typeface="+mj-lt"/>
              <a:buAutoNum type="arabicPeriod"/>
              <a:defRPr sz="2400"/>
            </a:lvl2pPr>
            <a:lvl3pPr marL="1371600" indent="-457200">
              <a:buFont typeface="+mj-lt"/>
              <a:buAutoNum type="arabicPeriod"/>
              <a:defRPr sz="2400"/>
            </a:lvl3pPr>
            <a:lvl4pPr marL="1828800" indent="-457200">
              <a:lnSpc>
                <a:spcPct val="200000"/>
              </a:lnSpc>
              <a:buFont typeface="+mj-lt"/>
              <a:buAutoNum type="arabicPeriod"/>
              <a:defRPr sz="2400"/>
            </a:lvl4pPr>
            <a:lvl5pPr marL="2286000" indent="-457200">
              <a:buFont typeface="+mj-lt"/>
              <a:buAutoNum type="arabicPeriod"/>
              <a:defRPr sz="2400"/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0"/>
            <a:r>
              <a:rPr lang="ko-KR" altLang="en-US" dirty="0"/>
              <a:t>마스터 텍스트</a:t>
            </a:r>
            <a:endParaRPr lang="en-US" altLang="ko-KR" dirty="0"/>
          </a:p>
          <a:p>
            <a:pPr lvl="0"/>
            <a:r>
              <a:rPr lang="ko-KR" altLang="en-US" dirty="0" err="1"/>
              <a:t>마스터텍스트</a:t>
            </a:r>
            <a:endParaRPr lang="en-US" altLang="ko-KR" dirty="0"/>
          </a:p>
          <a:p>
            <a:pPr lvl="0"/>
            <a:endParaRPr lang="ko-KR" altLang="en-US" dirty="0"/>
          </a:p>
          <a:p>
            <a:pPr lvl="3"/>
            <a:endParaRPr lang="en-US" altLang="ko-KR" dirty="0"/>
          </a:p>
          <a:p>
            <a:pPr lvl="3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8F3FD7-F38C-4DC6-A490-2390C278C456}"/>
              </a:ext>
            </a:extLst>
          </p:cNvPr>
          <p:cNvGrpSpPr/>
          <p:nvPr userDrawn="1"/>
        </p:nvGrpSpPr>
        <p:grpSpPr>
          <a:xfrm>
            <a:off x="10167726" y="6403147"/>
            <a:ext cx="1734687" cy="454853"/>
            <a:chOff x="7331953" y="179338"/>
            <a:chExt cx="1734687" cy="41531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5E0A6A2-B894-43F3-B195-D14B63ACB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9C2C38-2D9E-402B-B861-FB8B8AD03F99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118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437" y="846139"/>
            <a:ext cx="11294171" cy="5694196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defRPr sz="2000" b="1">
                <a:latin typeface="+mn-ea"/>
                <a:ea typeface="+mn-ea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ü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1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A887C070-7191-49B9-A201-BADDE72B5ACA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9F005E8-742E-4A9A-8C1E-516872E66DAB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FA21864-9D29-4784-8D3F-7F6CC49D6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BA3267-CB6F-429F-8561-7BF3774BA160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03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590" y="836711"/>
            <a:ext cx="11150001" cy="5703623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defRPr sz="2000" b="1"/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2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E727B9DE-0141-4527-B573-9566F5265D99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D318C7-BE8E-4855-B025-D803CDB61B1C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0363C08-CB47-4559-B8FF-D26BC98DB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F0DD79-8783-4416-822B-D7D6E1BEAFA3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15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480" y="836711"/>
            <a:ext cx="11160111" cy="5703623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 sz="2000" b="1">
                <a:latin typeface="+mn-ea"/>
                <a:ea typeface="+mn-ea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3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41DF3CDB-1585-44AF-8E29-1E86844C6661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96769C3-6895-465C-B228-2C094F4EB4B7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939DC04-0774-4A6E-8979-49065A8C2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186F98-4357-479F-8C6B-82B22D623CA4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160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681" y="836711"/>
            <a:ext cx="11279927" cy="5589489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 sz="2000" b="1">
                <a:latin typeface="+mn-ea"/>
                <a:ea typeface="+mn-ea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ü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4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E731C774-1AA7-4A88-BD6F-5D3457963007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89FA9E4-2B1F-4E98-91F7-47F25ADDB6A4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97393F4-0392-4D06-970C-4766E90DB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E0C918-5F7C-4B70-8E7C-B27A3E555D48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14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od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 flipV="1">
            <a:off x="1542128" y="2046296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 flipV="1">
            <a:off x="-1167640" y="1662706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flipV="1">
            <a:off x="-483695" y="5830882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-1120250" y="-530648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1">
            <a:extLst>
              <a:ext uri="{FF2B5EF4-FFF2-40B4-BE49-F238E27FC236}">
                <a16:creationId xmlns:a16="http://schemas.microsoft.com/office/drawing/2014/main" id="{63F2844A-CF2F-40CF-B526-A607082E7B61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64DC4A8-7360-4193-9D17-6C13A265819C}"/>
              </a:ext>
            </a:extLst>
          </p:cNvPr>
          <p:cNvGrpSpPr/>
          <p:nvPr userDrawn="1"/>
        </p:nvGrpSpPr>
        <p:grpSpPr>
          <a:xfrm>
            <a:off x="10167726" y="6403147"/>
            <a:ext cx="1734687" cy="454853"/>
            <a:chOff x="7331953" y="179338"/>
            <a:chExt cx="1734687" cy="41531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A8D93A3-0945-4034-8E2F-4AD9F4144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3716F3-BB0B-413B-A0BE-3B81C5E1C19F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8669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BC56E373-86CE-4F81-8779-746DC50E420A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369432-43EF-44A6-B18F-3367274E7041}"/>
              </a:ext>
            </a:extLst>
          </p:cNvPr>
          <p:cNvSpPr txBox="1"/>
          <p:nvPr userDrawn="1"/>
        </p:nvSpPr>
        <p:spPr>
          <a:xfrm>
            <a:off x="6228082" y="2831275"/>
            <a:ext cx="1117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 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21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05FC42DD-92DF-4C24-8B5F-5F9C496E77AB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1900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0" y="-241846"/>
            <a:ext cx="10515600" cy="1325563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321956" cy="45719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52D53854-9346-41EB-9DD0-E594FCC65E08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55EA729-AF87-4920-AD69-877994F84068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E9BE4A5-E0D3-4D6C-93D2-0D47CB1CF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614FD-CC67-4F49-9DC3-3CF289949A7D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4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CC1E23-2102-4234-9FEF-E6EA9129F7E8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21281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44624"/>
            <a:ext cx="9902891" cy="556634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070C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609600" y="1009075"/>
            <a:ext cx="10972800" cy="5121850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spcBef>
                <a:spcPts val="2000"/>
              </a:spcBef>
              <a:defRPr sz="2800"/>
            </a:lvl1pPr>
            <a:lvl2pPr latinLnBrk="0">
              <a:spcBef>
                <a:spcPts val="1500"/>
              </a:spcBef>
              <a:defRPr sz="2400"/>
            </a:lvl2pPr>
            <a:lvl3pPr latinLnBrk="0">
              <a:spcBef>
                <a:spcPts val="2000"/>
              </a:spcBef>
              <a:defRPr sz="2000"/>
            </a:lvl3pPr>
            <a:lvl4pPr latinLnBrk="0">
              <a:spcBef>
                <a:spcPts val="2000"/>
              </a:spcBef>
              <a:defRPr sz="1800"/>
            </a:lvl4pPr>
            <a:lvl5pPr latinLnBrk="0">
              <a:spcBef>
                <a:spcPts val="2000"/>
              </a:spcBef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-25219" y="745275"/>
            <a:ext cx="12217220" cy="45719"/>
            <a:chOff x="-56644" y="730068"/>
            <a:chExt cx="4345423" cy="45719"/>
          </a:xfrm>
          <a:effectLst/>
        </p:grpSpPr>
        <p:sp>
          <p:nvSpPr>
            <p:cNvPr id="8" name="평행 사변형 7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평행 사변형 8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평행 사변형 9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93585" y="157162"/>
            <a:ext cx="1378283" cy="370032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60D6183A-CC62-4AA4-9144-7DE3CFE5A3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5735960" y="6243638"/>
            <a:ext cx="2844800" cy="457200"/>
          </a:xfrm>
          <a:ln/>
        </p:spPr>
        <p:txBody>
          <a:bodyPr/>
          <a:lstStyle>
            <a:lvl1pPr algn="l">
              <a:defRPr sz="1400">
                <a:solidFill>
                  <a:schemeClr val="bg1">
                    <a:lumMod val="50000"/>
                  </a:schemeClr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defRPr>
            </a:lvl1pPr>
          </a:lstStyle>
          <a:p>
            <a:pPr>
              <a:defRPr/>
            </a:pPr>
            <a:fld id="{92C841CF-4925-4C76-A890-69C6AD64B61B}" type="slidenum">
              <a:rPr lang="en-US" altLang="ko-KR" smtClean="0"/>
              <a:pPr>
                <a:defRPr/>
              </a:pPr>
              <a:t>‹#›</a:t>
            </a:fld>
            <a:r>
              <a:rPr lang="en-US" altLang="ko-KR" dirty="0"/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195462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DA4300CD-0301-480C-BBFA-A58F2FF8E3C1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내용 개체 틀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6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79" r:id="rId3"/>
    <p:sldLayoutId id="2147483708" r:id="rId4"/>
    <p:sldLayoutId id="2147483709" r:id="rId5"/>
    <p:sldLayoutId id="2147483710" r:id="rId6"/>
    <p:sldLayoutId id="2147483680" r:id="rId7"/>
    <p:sldLayoutId id="2147483698" r:id="rId8"/>
    <p:sldLayoutId id="2147483706" r:id="rId9"/>
    <p:sldLayoutId id="2147483707" r:id="rId10"/>
    <p:sldLayoutId id="2147483700" r:id="rId11"/>
    <p:sldLayoutId id="2147483711" r:id="rId12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humbsup4u@khnp.co.k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9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423592" y="2846546"/>
            <a:ext cx="75565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시뮬레이터 앱을 활용한 </a:t>
            </a:r>
            <a:endParaRPr lang="en-US" altLang="ko-KR" sz="4400" b="1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4400" b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표준강관비계 설치 실습</a:t>
            </a:r>
            <a:endParaRPr lang="en-US" altLang="ko-KR" sz="4400" b="1" dirty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>
            <a:off x="2351584" y="4347448"/>
            <a:ext cx="71287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93F274-AFCC-4ED0-A9AB-1FBB8BA815BC}"/>
              </a:ext>
            </a:extLst>
          </p:cNvPr>
          <p:cNvSpPr txBox="1"/>
          <p:nvPr/>
        </p:nvSpPr>
        <p:spPr>
          <a:xfrm>
            <a:off x="2423592" y="4491464"/>
            <a:ext cx="487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과정명 </a:t>
            </a:r>
            <a:r>
              <a:rPr lang="ko-KR" altLang="en-US" b="1" err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정비작업처리 관리</a:t>
            </a:r>
            <a:endParaRPr lang="ko-KR" altLang="en-US" b="1" dirty="0">
              <a:solidFill>
                <a:schemeClr val="bg1">
                  <a:lumMod val="6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220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349003AC-D983-485A-96FA-8455A7B1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강사소개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E3FFFD0-24F6-40BF-9A5E-CACBC6EAA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515" y="1293038"/>
            <a:ext cx="7217227" cy="512185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現</a:t>
            </a:r>
            <a:r>
              <a:rPr lang="en-US" altLang="ko-KR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)</a:t>
            </a: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인재개발원 원자력교육부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(2025~)</a:t>
            </a:r>
            <a:endParaRPr lang="ko-KR" altLang="en-US" dirty="0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  <a:p>
            <a:pPr>
              <a:spcBef>
                <a:spcPts val="1500"/>
              </a:spcBef>
            </a:pP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주요 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근무경력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(‘11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년 </a:t>
            </a: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입사</a:t>
            </a:r>
            <a:r>
              <a:rPr lang="en-US" altLang="ko-KR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/</a:t>
            </a: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원자력</a:t>
            </a:r>
            <a:r>
              <a:rPr lang="en-US" altLang="ko-KR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한울</a:t>
            </a:r>
            <a:r>
              <a:rPr lang="en-US" altLang="ko-KR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2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발전소 전기부 터빈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/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원자로 파트</a:t>
            </a:r>
            <a:endParaRPr lang="en-US" altLang="ko-KR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  <a:p>
            <a:pPr lvl="1">
              <a:spcBef>
                <a:spcPts val="1200"/>
              </a:spcBef>
            </a:pP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한울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2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발전소 기기엔지니어링부 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원자로 전기파트</a:t>
            </a:r>
            <a:endParaRPr lang="en-US" altLang="ko-KR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  <a:p>
            <a:pPr>
              <a:spcBef>
                <a:spcPts val="1200"/>
              </a:spcBef>
            </a:pP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자격증 보유현황</a:t>
            </a:r>
            <a:endParaRPr lang="en-US" altLang="ko-KR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  <a:p>
            <a:pPr lvl="1">
              <a:spcBef>
                <a:spcPts val="1200"/>
              </a:spcBef>
            </a:pP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전기기사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, </a:t>
            </a: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전기공사기사</a:t>
            </a:r>
            <a:endParaRPr lang="en-US" altLang="ko-KR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  <a:p>
            <a:pPr>
              <a:spcBef>
                <a:spcPts val="1200"/>
              </a:spcBef>
            </a:pPr>
            <a:r>
              <a:rPr lang="ko-KR" altLang="en-US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연락처</a:t>
            </a:r>
            <a:endParaRPr lang="en-US" altLang="ko-KR" dirty="0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  <a:p>
            <a:pPr lvl="1">
              <a:spcBef>
                <a:spcPts val="1200"/>
              </a:spcBef>
            </a:pPr>
            <a:r>
              <a:rPr lang="en-US" altLang="ko-KR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E-mail</a:t>
            </a:r>
            <a:r>
              <a: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: </a:t>
            </a:r>
            <a:r>
              <a:rPr lang="en-US" altLang="ko-KR" u="sng">
                <a:solidFill>
                  <a:schemeClr val="accent1">
                    <a:lumMod val="50000"/>
                  </a:schemeClr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Elechskim</a:t>
            </a:r>
            <a:r>
              <a:rPr lang="en-US" altLang="ko-KR" u="sng">
                <a:solidFill>
                  <a:schemeClr val="accent1">
                    <a:lumMod val="50000"/>
                  </a:schemeClr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altLang="ko-KR" u="sng" dirty="0">
                <a:solidFill>
                  <a:schemeClr val="accent1">
                    <a:lumMod val="50000"/>
                  </a:schemeClr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khnp.co.kr</a:t>
            </a:r>
            <a:r>
              <a:rPr lang="en-US" altLang="ko-KR" u="sng" dirty="0">
                <a:solidFill>
                  <a:schemeClr val="accent1">
                    <a:lumMod val="50000"/>
                  </a:schemeClr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</a:t>
            </a:r>
          </a:p>
          <a:p>
            <a:pPr lvl="1">
              <a:spcBef>
                <a:spcPts val="1200"/>
              </a:spcBef>
            </a:pPr>
            <a:r>
              <a:rPr lang="en-US" altLang="ko-KR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Contact No </a:t>
            </a:r>
            <a:r>
              <a:rPr lang="en-US" altLang="ko-KR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: </a:t>
            </a:r>
            <a:r>
              <a:rPr kumimoji="0" lang="en-US" altLang="ko-KR" spc="-100">
                <a:solidFill>
                  <a:prstClr val="black">
                    <a:lumMod val="50000"/>
                  </a:prstClr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010-3123-8406</a:t>
            </a:r>
            <a:endParaRPr lang="en-US" altLang="ko-KR" dirty="0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336360" y="6356176"/>
            <a:ext cx="2844800" cy="457200"/>
          </a:xfrm>
        </p:spPr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C841CF-4925-4C76-A890-69C6AD64B61B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한수원 한돋움" panose="020B0600000101010101" pitchFamily="50" charset="-127"/>
                <a:ea typeface="한수원 한돋움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한수원 한돋움" panose="020B0600000101010101" pitchFamily="50" charset="-127"/>
                <a:ea typeface="한수원 한돋움" panose="020B0600000101010101" pitchFamily="50" charset="-127"/>
                <a:cs typeface="+mn-cs"/>
              </a:rPr>
              <a:t>/27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F0DB043-9E23-45D5-B12A-46105CDE620D}"/>
              </a:ext>
            </a:extLst>
          </p:cNvPr>
          <p:cNvGrpSpPr/>
          <p:nvPr/>
        </p:nvGrpSpPr>
        <p:grpSpPr>
          <a:xfrm>
            <a:off x="1074341" y="1467205"/>
            <a:ext cx="2190124" cy="3168352"/>
            <a:chOff x="7495096" y="1421141"/>
            <a:chExt cx="2417251" cy="3503656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7495096" y="1421141"/>
              <a:ext cx="2417251" cy="2990082"/>
            </a:xfrm>
            <a:prstGeom prst="roundRect">
              <a:avLst>
                <a:gd name="adj" fmla="val 4058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견고딕"/>
                <a:ea typeface="HY견고딕"/>
                <a:cs typeface="+mn-cs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7495096" y="4492183"/>
              <a:ext cx="2417251" cy="432614"/>
            </a:xfrm>
            <a:prstGeom prst="roundRect">
              <a:avLst>
                <a:gd name="adj" fmla="val 4058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400" b="1">
                  <a:solidFill>
                    <a:srgbClr val="000000"/>
                  </a:solidFill>
                  <a:latin typeface="HY견고딕"/>
                  <a:ea typeface="HY견고딕"/>
                </a:rPr>
                <a:t>김 학 수</a:t>
              </a:r>
              <a:endPara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견고딕"/>
                <a:ea typeface="HY견고딕"/>
                <a:cs typeface="+mn-cs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6087E009-DEA0-429B-A7F6-5A44B4F95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512" y="1516891"/>
            <a:ext cx="1947191" cy="26045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E8B215-AD42-4259-8D87-B51D0982534C}"/>
              </a:ext>
            </a:extLst>
          </p:cNvPr>
          <p:cNvSpPr/>
          <p:nvPr/>
        </p:nvSpPr>
        <p:spPr bwMode="auto">
          <a:xfrm>
            <a:off x="4686300" y="1916832"/>
            <a:ext cx="5154116" cy="556634"/>
          </a:xfrm>
          <a:prstGeom prst="rect">
            <a:avLst/>
          </a:prstGeom>
          <a:noFill/>
          <a:ln w="76200" cap="flat" cmpd="sng" algn="ctr">
            <a:solidFill>
              <a:srgbClr val="D760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9FED08-5CC9-4F15-B028-3A4D26489443}"/>
              </a:ext>
            </a:extLst>
          </p:cNvPr>
          <p:cNvSpPr/>
          <p:nvPr/>
        </p:nvSpPr>
        <p:spPr bwMode="auto">
          <a:xfrm>
            <a:off x="4686300" y="2492896"/>
            <a:ext cx="6738292" cy="989542"/>
          </a:xfrm>
          <a:prstGeom prst="rect">
            <a:avLst/>
          </a:prstGeom>
          <a:noFill/>
          <a:ln w="76200" cap="flat" cmpd="sng" algn="ctr">
            <a:solidFill>
              <a:srgbClr val="D760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9AE4B95-1487-4C24-93B8-16C3B41C6F20}"/>
              </a:ext>
            </a:extLst>
          </p:cNvPr>
          <p:cNvSpPr/>
          <p:nvPr/>
        </p:nvSpPr>
        <p:spPr bwMode="auto">
          <a:xfrm>
            <a:off x="4686300" y="5085184"/>
            <a:ext cx="5586164" cy="1180056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1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125299" y="0"/>
            <a:ext cx="3753779" cy="6858001"/>
          </a:xfrm>
          <a:prstGeom prst="rect">
            <a:avLst/>
          </a:prstGeom>
          <a:solidFill>
            <a:schemeClr val="bg2">
              <a:lumMod val="1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/>
          <p:cNvCxnSpPr/>
          <p:nvPr/>
        </p:nvCxnSpPr>
        <p:spPr>
          <a:xfrm>
            <a:off x="623392" y="690375"/>
            <a:ext cx="77078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26587" y="1551790"/>
            <a:ext cx="2755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2000" b="1" dirty="0">
                <a:solidFill>
                  <a:srgbClr val="413D3D"/>
                </a:solidFill>
              </a:rPr>
              <a:t>Contents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2583943" y="1673085"/>
            <a:ext cx="7400489" cy="4708243"/>
            <a:chOff x="1227520" y="1874929"/>
            <a:chExt cx="6444721" cy="4304803"/>
          </a:xfrm>
        </p:grpSpPr>
        <p:grpSp>
          <p:nvGrpSpPr>
            <p:cNvPr id="124" name="그룹 123"/>
            <p:cNvGrpSpPr/>
            <p:nvPr/>
          </p:nvGrpSpPr>
          <p:grpSpPr>
            <a:xfrm>
              <a:off x="1227520" y="2120663"/>
              <a:ext cx="6444721" cy="3598205"/>
              <a:chOff x="1065593" y="2109620"/>
              <a:chExt cx="6802763" cy="3798107"/>
            </a:xfrm>
          </p:grpSpPr>
          <p:cxnSp>
            <p:nvCxnSpPr>
              <p:cNvPr id="125" name="직선 연결선 124"/>
              <p:cNvCxnSpPr/>
              <p:nvPr/>
            </p:nvCxnSpPr>
            <p:spPr>
              <a:xfrm>
                <a:off x="1065593" y="2109620"/>
                <a:ext cx="6802763" cy="0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26" name="직선 연결선 125"/>
              <p:cNvCxnSpPr/>
              <p:nvPr/>
            </p:nvCxnSpPr>
            <p:spPr>
              <a:xfrm>
                <a:off x="1065593" y="3058412"/>
                <a:ext cx="6802763" cy="0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27" name="직선 연결선 126"/>
              <p:cNvCxnSpPr/>
              <p:nvPr/>
            </p:nvCxnSpPr>
            <p:spPr>
              <a:xfrm>
                <a:off x="1065593" y="4010665"/>
                <a:ext cx="6802763" cy="0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28" name="직선 연결선 127"/>
              <p:cNvCxnSpPr>
                <a:cxnSpLocks/>
              </p:cNvCxnSpPr>
              <p:nvPr/>
            </p:nvCxnSpPr>
            <p:spPr>
              <a:xfrm>
                <a:off x="1116769" y="5907726"/>
                <a:ext cx="6751587" cy="1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A8F1318B-DB72-44F0-9973-EAEDD1F86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5593" y="4952240"/>
                <a:ext cx="6802763" cy="8309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</p:grpSp>
        <p:grpSp>
          <p:nvGrpSpPr>
            <p:cNvPr id="129" name="그룹 128"/>
            <p:cNvGrpSpPr/>
            <p:nvPr/>
          </p:nvGrpSpPr>
          <p:grpSpPr>
            <a:xfrm>
              <a:off x="1652059" y="1874929"/>
              <a:ext cx="5665051" cy="4304803"/>
              <a:chOff x="1615565" y="1322386"/>
              <a:chExt cx="5979779" cy="5584394"/>
            </a:xfrm>
          </p:grpSpPr>
          <p:cxnSp>
            <p:nvCxnSpPr>
              <p:cNvPr id="130" name="직선 연결선 129"/>
              <p:cNvCxnSpPr/>
              <p:nvPr/>
            </p:nvCxnSpPr>
            <p:spPr>
              <a:xfrm flipH="1">
                <a:off x="1615565" y="1322386"/>
                <a:ext cx="4438" cy="5477141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31" name="직선 연결선 130"/>
              <p:cNvCxnSpPr>
                <a:cxnSpLocks/>
              </p:cNvCxnSpPr>
              <p:nvPr/>
            </p:nvCxnSpPr>
            <p:spPr>
              <a:xfrm>
                <a:off x="3611763" y="1322386"/>
                <a:ext cx="1" cy="5584394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32" name="직선 연결선 131"/>
              <p:cNvCxnSpPr>
                <a:cxnSpLocks/>
              </p:cNvCxnSpPr>
              <p:nvPr/>
            </p:nvCxnSpPr>
            <p:spPr>
              <a:xfrm flipH="1">
                <a:off x="5601271" y="1322386"/>
                <a:ext cx="5703" cy="5584394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33" name="직선 연결선 132"/>
              <p:cNvCxnSpPr>
                <a:cxnSpLocks/>
              </p:cNvCxnSpPr>
              <p:nvPr/>
            </p:nvCxnSpPr>
            <p:spPr>
              <a:xfrm>
                <a:off x="7595344" y="1322386"/>
                <a:ext cx="0" cy="5584394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</p:grpSp>
        <p:sp>
          <p:nvSpPr>
            <p:cNvPr id="134" name="직사각형 133"/>
            <p:cNvSpPr/>
            <p:nvPr/>
          </p:nvSpPr>
          <p:spPr>
            <a:xfrm>
              <a:off x="1652059" y="2117262"/>
              <a:ext cx="1891133" cy="90225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1652147" y="2126006"/>
              <a:ext cx="781021" cy="5346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en-US" altLang="ko-KR" sz="3200" b="1" spc="-100" dirty="0">
                  <a:solidFill>
                    <a:schemeClr val="bg1"/>
                  </a:solidFill>
                  <a:latin typeface="+mn-ea"/>
                </a:rPr>
                <a:t>01</a:t>
              </a: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2099992" y="2202386"/>
              <a:ext cx="1438336" cy="11326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en-US" altLang="ko-KR" sz="2400" b="1" spc="-100">
                  <a:solidFill>
                    <a:schemeClr val="bg1"/>
                  </a:solidFill>
                  <a:latin typeface="+mn-ea"/>
                </a:rPr>
                <a:t>Safety Moment</a:t>
              </a:r>
            </a:p>
            <a:p>
              <a:pPr>
                <a:spcBef>
                  <a:spcPts val="300"/>
                </a:spcBef>
              </a:pPr>
              <a:endParaRPr lang="en-US" altLang="ko-KR" sz="2400" b="1" spc="-100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5" name="그림 4"/>
            <p:cNvPicPr>
              <a:picLocks/>
            </p:cNvPicPr>
            <p:nvPr/>
          </p:nvPicPr>
          <p:blipFill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419249" y="4807646"/>
              <a:ext cx="1919254" cy="926982"/>
            </a:xfrm>
            <a:prstGeom prst="rect">
              <a:avLst/>
            </a:prstGeom>
          </p:spPr>
        </p:pic>
      </p:grpSp>
      <p:cxnSp>
        <p:nvCxnSpPr>
          <p:cNvPr id="42" name="직선 연결선 41"/>
          <p:cNvCxnSpPr/>
          <p:nvPr/>
        </p:nvCxnSpPr>
        <p:spPr>
          <a:xfrm flipV="1">
            <a:off x="649354" y="1722384"/>
            <a:ext cx="1680374" cy="205423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2645834" y="5887848"/>
            <a:ext cx="1680374" cy="205423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4390063" y="-102016"/>
            <a:ext cx="1680374" cy="205423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/>
          <p:cNvGrpSpPr/>
          <p:nvPr/>
        </p:nvGrpSpPr>
        <p:grpSpPr>
          <a:xfrm>
            <a:off x="623392" y="912770"/>
            <a:ext cx="2025262" cy="446661"/>
            <a:chOff x="3118142" y="4363082"/>
            <a:chExt cx="3162625" cy="697500"/>
          </a:xfrm>
        </p:grpSpPr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4" cstate="print">
              <a:biLevel thresh="25000"/>
            </a:blip>
            <a:stretch>
              <a:fillRect/>
            </a:stretch>
          </p:blipFill>
          <p:spPr>
            <a:xfrm>
              <a:off x="3118142" y="4363082"/>
              <a:ext cx="776250" cy="675000"/>
            </a:xfrm>
            <a:prstGeom prst="rect">
              <a:avLst/>
            </a:prstGeom>
          </p:spPr>
        </p:pic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 cstate="print">
              <a:biLevel thresh="25000"/>
            </a:blip>
            <a:stretch>
              <a:fillRect/>
            </a:stretch>
          </p:blipFill>
          <p:spPr>
            <a:xfrm>
              <a:off x="3932492" y="4363082"/>
              <a:ext cx="765000" cy="675000"/>
            </a:xfrm>
            <a:prstGeom prst="rect">
              <a:avLst/>
            </a:prstGeom>
          </p:spPr>
        </p:pic>
        <p:pic>
          <p:nvPicPr>
            <p:cNvPr id="65" name="그림 64"/>
            <p:cNvPicPr>
              <a:picLocks noChangeAspect="1"/>
            </p:cNvPicPr>
            <p:nvPr/>
          </p:nvPicPr>
          <p:blipFill rotWithShape="1">
            <a:blip r:embed="rId6" cstate="print">
              <a:biLevel thresh="25000"/>
            </a:blip>
            <a:srcRect r="49194"/>
            <a:stretch/>
          </p:blipFill>
          <p:spPr>
            <a:xfrm>
              <a:off x="4738066" y="4363082"/>
              <a:ext cx="800200" cy="697500"/>
            </a:xfrm>
            <a:prstGeom prst="rect">
              <a:avLst/>
            </a:prstGeom>
          </p:spPr>
        </p:pic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7" cstate="print">
              <a:biLevel thresh="25000"/>
            </a:blip>
            <a:stretch>
              <a:fillRect/>
            </a:stretch>
          </p:blipFill>
          <p:spPr>
            <a:xfrm>
              <a:off x="5538267" y="4374332"/>
              <a:ext cx="742500" cy="675000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A1BD176-1ABA-466C-B947-AF3C95BB9B7C}"/>
              </a:ext>
            </a:extLst>
          </p:cNvPr>
          <p:cNvGrpSpPr/>
          <p:nvPr/>
        </p:nvGrpSpPr>
        <p:grpSpPr>
          <a:xfrm>
            <a:off x="3071441" y="1935067"/>
            <a:ext cx="6548684" cy="2962667"/>
            <a:chOff x="3071441" y="1935067"/>
            <a:chExt cx="6548684" cy="2962667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ADCD9896-422F-4650-B1E4-D35D7CFC56A0}"/>
                </a:ext>
              </a:extLst>
            </p:cNvPr>
            <p:cNvSpPr/>
            <p:nvPr/>
          </p:nvSpPr>
          <p:spPr>
            <a:xfrm>
              <a:off x="5242739" y="1938128"/>
              <a:ext cx="2171593" cy="98681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0DB215E-492A-4928-831A-F21169884006}"/>
                </a:ext>
              </a:extLst>
            </p:cNvPr>
            <p:cNvSpPr/>
            <p:nvPr/>
          </p:nvSpPr>
          <p:spPr>
            <a:xfrm>
              <a:off x="7414505" y="1937416"/>
              <a:ext cx="2171593" cy="98681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EF673B7-FBC1-4268-9010-6518B1170C92}"/>
                </a:ext>
              </a:extLst>
            </p:cNvPr>
            <p:cNvSpPr/>
            <p:nvPr/>
          </p:nvSpPr>
          <p:spPr>
            <a:xfrm>
              <a:off x="3071441" y="2923308"/>
              <a:ext cx="2171593" cy="9868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A2CC5006-135A-4D5E-AA23-88F25FB64163}"/>
                </a:ext>
              </a:extLst>
            </p:cNvPr>
            <p:cNvSpPr/>
            <p:nvPr/>
          </p:nvSpPr>
          <p:spPr>
            <a:xfrm>
              <a:off x="3072681" y="3909035"/>
              <a:ext cx="2171593" cy="98681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A2AE70D-5A4D-41F3-ADA5-49B9F4C7F893}"/>
                </a:ext>
              </a:extLst>
            </p:cNvPr>
            <p:cNvSpPr/>
            <p:nvPr/>
          </p:nvSpPr>
          <p:spPr>
            <a:xfrm>
              <a:off x="5244107" y="2923247"/>
              <a:ext cx="2171593" cy="98681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6ABFF0E-D6AB-41E1-9E4B-2C56A86C48BF}"/>
                </a:ext>
              </a:extLst>
            </p:cNvPr>
            <p:cNvSpPr/>
            <p:nvPr/>
          </p:nvSpPr>
          <p:spPr>
            <a:xfrm>
              <a:off x="5243515" y="3910919"/>
              <a:ext cx="2171593" cy="98681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0781CCD4-4165-4645-BD20-D908A7F5C26B}"/>
                </a:ext>
              </a:extLst>
            </p:cNvPr>
            <p:cNvSpPr/>
            <p:nvPr/>
          </p:nvSpPr>
          <p:spPr>
            <a:xfrm>
              <a:off x="7414505" y="2922809"/>
              <a:ext cx="2171593" cy="98681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5305FD22-D7C7-4352-A831-31C4BE1CF22E}"/>
                </a:ext>
              </a:extLst>
            </p:cNvPr>
            <p:cNvSpPr/>
            <p:nvPr/>
          </p:nvSpPr>
          <p:spPr>
            <a:xfrm>
              <a:off x="7414504" y="3909035"/>
              <a:ext cx="2171593" cy="98681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D2B1E19-3EB8-496F-A4CF-5F21402E62FF}"/>
                </a:ext>
              </a:extLst>
            </p:cNvPr>
            <p:cNvGrpSpPr/>
            <p:nvPr/>
          </p:nvGrpSpPr>
          <p:grpSpPr>
            <a:xfrm>
              <a:off x="3076270" y="2919102"/>
              <a:ext cx="2161451" cy="929231"/>
              <a:chOff x="3076270" y="2919102"/>
              <a:chExt cx="2161451" cy="929231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6DE18D5F-2E6C-4112-903F-BE9D28164479}"/>
                  </a:ext>
                </a:extLst>
              </p:cNvPr>
              <p:cNvSpPr/>
              <p:nvPr/>
            </p:nvSpPr>
            <p:spPr>
              <a:xfrm>
                <a:off x="3076270" y="2919102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04</a:t>
                </a: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73709D6D-31FA-466B-A27F-8713DDC93A0B}"/>
                  </a:ext>
                </a:extLst>
              </p:cNvPr>
              <p:cNvSpPr/>
              <p:nvPr/>
            </p:nvSpPr>
            <p:spPr>
              <a:xfrm>
                <a:off x="3586076" y="2978864"/>
                <a:ext cx="1651645" cy="8694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>
                    <a:solidFill>
                      <a:schemeClr val="bg1"/>
                    </a:solidFill>
                    <a:latin typeface="+mn-ea"/>
                  </a:rPr>
                  <a:t>정리하기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ko-KR" sz="2400" b="1" spc="-100" dirty="0">
                    <a:solidFill>
                      <a:schemeClr val="bg1"/>
                    </a:solidFill>
                    <a:latin typeface="+mn-ea"/>
                  </a:rPr>
                  <a:t>(Summary)</a:t>
                </a: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4AD77F5-2966-4091-8B2A-1842BA285CB6}"/>
                </a:ext>
              </a:extLst>
            </p:cNvPr>
            <p:cNvGrpSpPr/>
            <p:nvPr/>
          </p:nvGrpSpPr>
          <p:grpSpPr>
            <a:xfrm>
              <a:off x="5248053" y="2919101"/>
              <a:ext cx="2165579" cy="584775"/>
              <a:chOff x="5248053" y="2919101"/>
              <a:chExt cx="2165579" cy="584775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46EDC27-894B-4A8A-9F9D-4BF5DEA23444}"/>
                  </a:ext>
                </a:extLst>
              </p:cNvPr>
              <p:cNvSpPr/>
              <p:nvPr/>
            </p:nvSpPr>
            <p:spPr>
              <a:xfrm>
                <a:off x="5248053" y="2919101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05</a:t>
                </a: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5E7710A5-DF77-40D5-B87E-3CBCF0A5CA88}"/>
                  </a:ext>
                </a:extLst>
              </p:cNvPr>
              <p:cNvSpPr/>
              <p:nvPr/>
            </p:nvSpPr>
            <p:spPr>
              <a:xfrm>
                <a:off x="5761987" y="2977809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 err="1">
                    <a:solidFill>
                      <a:schemeClr val="bg1"/>
                    </a:solidFill>
                    <a:latin typeface="+mn-ea"/>
                  </a:rPr>
                  <a:t>질의∙응답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E34553F-AB1D-4FB1-9291-21C02B6E1625}"/>
                </a:ext>
              </a:extLst>
            </p:cNvPr>
            <p:cNvGrpSpPr/>
            <p:nvPr/>
          </p:nvGrpSpPr>
          <p:grpSpPr>
            <a:xfrm>
              <a:off x="5243984" y="1935067"/>
              <a:ext cx="4376141" cy="584775"/>
              <a:chOff x="5243984" y="1935067"/>
              <a:chExt cx="4376141" cy="584775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8D2AB581-6D69-4BF0-B958-A8C702CFE6A5}"/>
                  </a:ext>
                </a:extLst>
              </p:cNvPr>
              <p:cNvSpPr/>
              <p:nvPr/>
            </p:nvSpPr>
            <p:spPr>
              <a:xfrm>
                <a:off x="5243984" y="1935067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02</a:t>
                </a: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ED2B4D99-AFE1-4C8B-9CD7-5AC50A03465A}"/>
                  </a:ext>
                </a:extLst>
              </p:cNvPr>
              <p:cNvSpPr/>
              <p:nvPr/>
            </p:nvSpPr>
            <p:spPr>
              <a:xfrm>
                <a:off x="5760513" y="2000786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>
                    <a:solidFill>
                      <a:schemeClr val="bg1"/>
                    </a:solidFill>
                    <a:latin typeface="+mn-ea"/>
                  </a:rPr>
                  <a:t>학습목표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9EA23A95-63D4-414C-AD28-B0B97EE699BE}"/>
                  </a:ext>
                </a:extLst>
              </p:cNvPr>
              <p:cNvSpPr/>
              <p:nvPr/>
            </p:nvSpPr>
            <p:spPr>
              <a:xfrm>
                <a:off x="7968480" y="2000786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>
                    <a:solidFill>
                      <a:schemeClr val="bg1"/>
                    </a:solidFill>
                    <a:latin typeface="+mn-ea"/>
                  </a:rPr>
                  <a:t>실습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7EEB77A-B28C-4389-A165-6626263A1BF1}"/>
                </a:ext>
              </a:extLst>
            </p:cNvPr>
            <p:cNvGrpSpPr/>
            <p:nvPr/>
          </p:nvGrpSpPr>
          <p:grpSpPr>
            <a:xfrm>
              <a:off x="7414530" y="1935067"/>
              <a:ext cx="2164393" cy="584775"/>
              <a:chOff x="7414530" y="1935067"/>
              <a:chExt cx="2164393" cy="584775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BB80E254-8C6A-4D31-BB4D-0C346A781F1C}"/>
                  </a:ext>
                </a:extLst>
              </p:cNvPr>
              <p:cNvSpPr/>
              <p:nvPr/>
            </p:nvSpPr>
            <p:spPr>
              <a:xfrm>
                <a:off x="7414530" y="1935067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03</a:t>
                </a: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70EB4D46-1BB9-47EA-AAAF-CC38D0D4D6B0}"/>
                  </a:ext>
                </a:extLst>
              </p:cNvPr>
              <p:cNvSpPr/>
              <p:nvPr/>
            </p:nvSpPr>
            <p:spPr>
              <a:xfrm>
                <a:off x="7927278" y="1994603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076F7F73-AFD1-41FD-8F04-574A15E405C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241965" y="4883064"/>
            <a:ext cx="2180737" cy="1008509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4CC72C1-B934-4313-BA0E-784F60D0DC4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70393" y="4890516"/>
            <a:ext cx="2199268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8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BB14-D2BF-00F5-95B2-A148ACC75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6970-BEF9-4DFF-4639-EEBD51E9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Safety Moment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D83DD-990E-19D3-78A4-3080A2748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852700"/>
            <a:ext cx="4464496" cy="592079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521F0D0-AF12-A87D-5906-5023EB8FF9E7}"/>
              </a:ext>
            </a:extLst>
          </p:cNvPr>
          <p:cNvSpPr/>
          <p:nvPr/>
        </p:nvSpPr>
        <p:spPr>
          <a:xfrm rot="395493">
            <a:off x="3782264" y="4691361"/>
            <a:ext cx="1872208" cy="50405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536312" latinLnBrk="0"/>
            <a:endParaRPr lang="ko-KR" altLang="en-US" b="1" kern="0" spc="-5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B5166FC-D852-E617-171A-3D43BF294B9D}"/>
              </a:ext>
            </a:extLst>
          </p:cNvPr>
          <p:cNvGrpSpPr/>
          <p:nvPr/>
        </p:nvGrpSpPr>
        <p:grpSpPr>
          <a:xfrm>
            <a:off x="6240016" y="1916832"/>
            <a:ext cx="5472608" cy="3528392"/>
            <a:chOff x="7032104" y="2618664"/>
            <a:chExt cx="4468180" cy="1530416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1E9B0642-896C-C0A8-E872-B580CF02C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0414" y="2618664"/>
              <a:ext cx="4449870" cy="1512168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77716E0-72E3-E7CB-A2C5-D3B26D93D321}"/>
                </a:ext>
              </a:extLst>
            </p:cNvPr>
            <p:cNvSpPr/>
            <p:nvPr/>
          </p:nvSpPr>
          <p:spPr>
            <a:xfrm>
              <a:off x="7032104" y="2618664"/>
              <a:ext cx="4464496" cy="1530416"/>
            </a:xfrm>
            <a:prstGeom prst="rect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536312" latinLnBrk="0"/>
              <a:endPara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3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제목 1"/>
          <p:cNvSpPr txBox="1">
            <a:spLocks/>
          </p:cNvSpPr>
          <p:nvPr/>
        </p:nvSpPr>
        <p:spPr>
          <a:xfrm>
            <a:off x="623392" y="659341"/>
            <a:ext cx="1581318" cy="3447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txBody>
          <a:bodyPr vert="horz" wrap="square" lIns="0" tIns="0" rIns="0" bIns="0" rtlCol="0" anchor="ctr">
            <a:spAutoFit/>
            <a:sp3d prstMaterial="softEdge">
              <a:bevelT w="1270" h="1270"/>
              <a:contourClr>
                <a:schemeClr val="accent4">
                  <a:alpha val="95000"/>
                </a:schemeClr>
              </a:contourClr>
            </a:sp3d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400" b="1" kern="1200" spc="-100" baseline="0" dirty="0">
                <a:ln>
                  <a:prstDash val="solid"/>
                </a:ln>
                <a:solidFill>
                  <a:srgbClr val="0070C0"/>
                </a:solidFill>
                <a:effectLst/>
                <a:latin typeface="Tahoma" pitchFamily="34" charset="0"/>
                <a:ea typeface="-윤고딕150" pitchFamily="18" charset="-127"/>
                <a:cs typeface="Tahoma" pitchFamily="34" charset="0"/>
              </a:defRPr>
            </a:lvl1pPr>
          </a:lstStyle>
          <a:p>
            <a:pPr defTabSz="995690">
              <a:lnSpc>
                <a:spcPct val="80000"/>
              </a:lnSpc>
              <a:tabLst>
                <a:tab pos="177800" algn="l"/>
                <a:tab pos="803275" algn="l"/>
              </a:tabLst>
            </a:pPr>
            <a:r>
              <a:rPr lang="ko-KR" altLang="en-US" sz="2800" dirty="0">
                <a:solidFill>
                  <a:prstClr val="white">
                    <a:lumMod val="85000"/>
                  </a:prstClr>
                </a:solidFill>
                <a:latin typeface="+mj-lt"/>
                <a:ea typeface="HY견고딕" panose="02030600000101010101" pitchFamily="18" charset="-127"/>
              </a:rPr>
              <a:t>학습목</a:t>
            </a:r>
            <a:r>
              <a:rPr lang="ko-KR" altLang="en-US" sz="2800" dirty="0">
                <a:solidFill>
                  <a:srgbClr val="D9D9D9"/>
                </a:solidFill>
                <a:latin typeface="+mj-lt"/>
                <a:ea typeface="HY견고딕" panose="02030600000101010101" pitchFamily="18" charset="-127"/>
              </a:rPr>
              <a:t>표</a:t>
            </a:r>
            <a:endParaRPr lang="en-US" sz="2800" dirty="0">
              <a:solidFill>
                <a:srgbClr val="D9D9D9"/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50101F-7750-4BD8-A054-5002A1862B12}"/>
              </a:ext>
            </a:extLst>
          </p:cNvPr>
          <p:cNvSpPr/>
          <p:nvPr/>
        </p:nvSpPr>
        <p:spPr>
          <a:xfrm>
            <a:off x="2495600" y="608398"/>
            <a:ext cx="9877584" cy="851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indent="-288000">
              <a:lnSpc>
                <a:spcPct val="250000"/>
              </a:lnSpc>
              <a:buFont typeface="+mj-lt"/>
              <a:buAutoNum type="arabicPeriod"/>
            </a:pPr>
            <a:r>
              <a:rPr lang="ko-KR" altLang="en-US" sz="2400" spc="-15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비계설치 감독자로서 </a:t>
            </a:r>
            <a:r>
              <a:rPr lang="en-US" altLang="ko-KR" sz="2400" spc="-15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강관비계 </a:t>
            </a: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9개 </a:t>
            </a:r>
            <a:r>
              <a:rPr lang="en-US" altLang="ko-KR" sz="2400" spc="-15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부위의 명칭과 </a:t>
            </a: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역할을 설명할 수 </a:t>
            </a:r>
            <a:r>
              <a:rPr lang="en-US" altLang="ko-KR" sz="2400" spc="-15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있다.</a:t>
            </a:r>
            <a:endParaRPr lang="en-US" altLang="ko-KR" sz="2400" spc="-1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714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"/>
          <p:cNvSpPr/>
          <p:nvPr/>
        </p:nvSpPr>
        <p:spPr>
          <a:xfrm>
            <a:off x="4185920" y="2356286"/>
            <a:ext cx="1778000" cy="1645920"/>
          </a:xfrm>
          <a:prstGeom prst="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 dirty="0">
                <a:solidFill>
                  <a:srgbClr val="00B050"/>
                </a:solidFill>
              </a:rPr>
              <a:t>3</a:t>
            </a:r>
            <a:endParaRPr lang="ko-KR" altLang="en-US" sz="6000" b="1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8261" y="2495990"/>
            <a:ext cx="51523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실습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185920" y="1944955"/>
            <a:ext cx="6590600" cy="2425509"/>
            <a:chOff x="2661920" y="1944954"/>
            <a:chExt cx="4281377" cy="2425509"/>
          </a:xfrm>
        </p:grpSpPr>
        <p:grpSp>
          <p:nvGrpSpPr>
            <p:cNvPr id="5" name="그룹 4"/>
            <p:cNvGrpSpPr/>
            <p:nvPr/>
          </p:nvGrpSpPr>
          <p:grpSpPr>
            <a:xfrm>
              <a:off x="2661920" y="1944954"/>
              <a:ext cx="4281377" cy="88709"/>
              <a:chOff x="2712744" y="3972099"/>
              <a:chExt cx="2788173" cy="88711"/>
            </a:xfrm>
          </p:grpSpPr>
          <p:sp>
            <p:nvSpPr>
              <p:cNvPr id="10" name="직사각형 9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2661920" y="4281754"/>
              <a:ext cx="4281377" cy="88709"/>
              <a:chOff x="2712744" y="3972099"/>
              <a:chExt cx="2788173" cy="88711"/>
            </a:xfrm>
          </p:grpSpPr>
          <p:sp>
            <p:nvSpPr>
              <p:cNvPr id="7" name="직사각형 6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372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강관비계 9개 부위와 실습 방법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</a:rPr>
              <a:t>들어가기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</a:rPr>
              <a:t>완성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</a:rPr>
              <a:t>모델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" name="캡처 자리"/>
          <p:cNvSpPr/>
          <p:nvPr/>
        </p:nvSpPr>
        <p:spPr>
          <a:xfrm>
            <a:off x="652018" y="1480992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9단계 조립을 모두 마친 완성 화면
(부위별 색상이 모두 보이게)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212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  <a:ea typeface="맑은 고딕"/>
              </a:rPr>
              <a:t>오늘 설치할 9개 부위 — 이 순서대로 조립합니다</a:t>
            </a:r>
          </a:p>
        </p:txBody>
      </p:sp>
      <p:sp>
        <p:nvSpPr>
          <p:cNvPr id="6" name="Oval 5"/>
          <p:cNvSpPr/>
          <p:nvPr/>
        </p:nvSpPr>
        <p:spPr>
          <a:xfrm>
            <a:off x="6629400" y="1901951"/>
            <a:ext cx="329184" cy="3291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밑받침 철물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Base Plate</a:t>
            </a:r>
          </a:p>
        </p:txBody>
      </p:sp>
      <p:sp>
        <p:nvSpPr>
          <p:cNvPr id="8" name="Oval 7"/>
          <p:cNvSpPr/>
          <p:nvPr/>
        </p:nvSpPr>
        <p:spPr>
          <a:xfrm>
            <a:off x="6629400" y="2285999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258568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기둥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Standard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2670047"/>
            <a:ext cx="329184" cy="32918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42615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밑둥잡이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Foot Tie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0" y="3054095"/>
            <a:ext cx="329184" cy="329184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026663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띠장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Ledger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3438143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410711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장선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Transom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3822191"/>
            <a:ext cx="329184" cy="32918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94759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가새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Bracing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4206240"/>
            <a:ext cx="329184" cy="32918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178807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사다리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Ladder</a:t>
            </a:r>
          </a:p>
        </p:txBody>
      </p:sp>
      <p:sp>
        <p:nvSpPr>
          <p:cNvPr id="20" name="Oval 19"/>
          <p:cNvSpPr/>
          <p:nvPr/>
        </p:nvSpPr>
        <p:spPr>
          <a:xfrm>
            <a:off x="6629400" y="4590288"/>
            <a:ext cx="329184" cy="32918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562855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작업발판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Platform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4974336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946903"/>
            <a:ext cx="4663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</a:rPr>
              <a:t>안전난간</a:t>
            </a:r>
            <a:r>
              <a:rPr sz="1300" b="0">
                <a:solidFill>
                  <a:srgbClr val="7F7F7F"/>
                </a:solidFill>
                <a:latin typeface="맑은 고딕"/>
                <a:ea typeface="맑은 고딕"/>
              </a:rPr>
              <a:t>   Guardrail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548640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 dirty="0">
                <a:solidFill>
                  <a:srgbClr val="1F4E79"/>
                </a:solidFill>
                <a:latin typeface="맑은 고딕"/>
                <a:ea typeface="맑은 고딕"/>
              </a:rPr>
              <a:t>▶ 앱 </a:t>
            </a:r>
            <a:r>
              <a:rPr sz="1400" b="1" dirty="0" err="1">
                <a:solidFill>
                  <a:srgbClr val="1F4E79"/>
                </a:solidFill>
                <a:latin typeface="맑은 고딕"/>
                <a:ea typeface="맑은 고딕"/>
              </a:rPr>
              <a:t>실습</a:t>
            </a:r>
            <a:r>
              <a:rPr sz="1400" b="1" dirty="0">
                <a:solidFill>
                  <a:srgbClr val="1F4E79"/>
                </a:solidFill>
                <a:latin typeface="맑은 고딕"/>
                <a:ea typeface="맑은 고딕"/>
              </a:rPr>
              <a:t>  </a:t>
            </a:r>
            <a:r>
              <a:rPr sz="1400" b="0" dirty="0" err="1">
                <a:solidFill>
                  <a:srgbClr val="1F4E79"/>
                </a:solidFill>
                <a:latin typeface="맑은 고딕"/>
                <a:ea typeface="맑은 고딕"/>
              </a:rPr>
              <a:t>시뮬레이터</a:t>
            </a:r>
            <a:r>
              <a:rPr sz="1400" b="0" dirty="0">
                <a:solidFill>
                  <a:srgbClr val="1F4E79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F4E79"/>
                </a:solidFill>
                <a:latin typeface="맑은 고딕"/>
                <a:ea typeface="맑은 고딕"/>
              </a:rPr>
              <a:t>접속</a:t>
            </a:r>
            <a:r>
              <a:rPr sz="1400" b="0" dirty="0">
                <a:solidFill>
                  <a:srgbClr val="1F4E79"/>
                </a:solidFill>
                <a:latin typeface="맑은 고딕"/>
                <a:ea typeface="맑은 고딕"/>
              </a:rPr>
              <a:t> → [</a:t>
            </a:r>
            <a:r>
              <a:rPr sz="1400" b="0" dirty="0" err="1">
                <a:solidFill>
                  <a:srgbClr val="1F4E79"/>
                </a:solidFill>
                <a:latin typeface="맑은 고딕"/>
                <a:ea typeface="맑은 고딕"/>
              </a:rPr>
              <a:t>시뮬레이터</a:t>
            </a:r>
            <a:r>
              <a:rPr sz="1400" b="0" dirty="0">
                <a:solidFill>
                  <a:srgbClr val="1F4E79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F4E79"/>
                </a:solidFill>
                <a:latin typeface="맑은 고딕"/>
                <a:ea typeface="맑은 고딕"/>
              </a:rPr>
              <a:t>시작</a:t>
            </a:r>
            <a:r>
              <a:rPr sz="1400" b="0" dirty="0">
                <a:solidFill>
                  <a:srgbClr val="1F4E79"/>
                </a:solidFill>
                <a:latin typeface="맑은 고딕"/>
                <a:ea typeface="맑은 고딕"/>
              </a:rPr>
              <a:t>]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7F99AF3-87A5-2460-9C87-AD9493B24E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99" y="1507729"/>
            <a:ext cx="5731911" cy="445415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1D9A58F-15DB-1D9F-9542-3BC462C8F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5" y="1480992"/>
            <a:ext cx="4464497" cy="4429799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1B20D1-DFFA-914B-D12F-07E4AE175B9C}"/>
              </a:ext>
            </a:extLst>
          </p:cNvPr>
          <p:cNvGrpSpPr/>
          <p:nvPr/>
        </p:nvGrpSpPr>
        <p:grpSpPr>
          <a:xfrm>
            <a:off x="695398" y="2730100"/>
            <a:ext cx="5805985" cy="2073783"/>
            <a:chOff x="695398" y="2730100"/>
            <a:chExt cx="5805985" cy="2073783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9CDE602B-D2E5-8DA6-98C3-79F942EBA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398" y="2730100"/>
              <a:ext cx="5805985" cy="2073783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E861810-EB20-743B-D5E6-A753F82AFC35}"/>
                </a:ext>
              </a:extLst>
            </p:cNvPr>
            <p:cNvSpPr/>
            <p:nvPr/>
          </p:nvSpPr>
          <p:spPr>
            <a:xfrm>
              <a:off x="1329105" y="2852936"/>
              <a:ext cx="4478863" cy="216024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536312" latinLnBrk="0"/>
              <a:r>
                <a:rPr lang="en-US" altLang="ko-KR" b="1" kern="0" spc="-55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Calibri"/>
                  <a:ea typeface="맑은 고딕" panose="020B0503020000020004" pitchFamily="50" charset="-127"/>
                  <a:cs typeface="맑은 고딕 Semilight" panose="020B0502040204020203" pitchFamily="50" charset="-127"/>
                </a:rPr>
                <a:t>W : 400mm , L : 1,829mm</a:t>
              </a:r>
              <a:endPara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① 밑받침 철물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1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560048" y="1424395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① 밑받침 철물 설치 직후 (짙은 회색 밑판 4개)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밑받침 철물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Base 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비계 기둥 하부에 설치하여 구조물의 하중을 지면에 균등하게 분산시키고, 기둥의 침하와 미끄러짐을 막는 기초 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91307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기둥이 </a:t>
            </a:r>
            <a:r>
              <a:rPr lang="ko-KR" altLang="en-US" sz="1500" b="0">
                <a:solidFill>
                  <a:srgbClr val="262626"/>
                </a:solidFill>
                <a:latin typeface="맑은 고딕"/>
                <a:ea typeface="맑은 고딕"/>
              </a:rPr>
              <a:t>받</a:t>
            </a: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는 하중을 넓은 밑판으로 지반에 분산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연약지반에서는 깔판(깔목) 위에 설치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조립의 출발점 — 모든 부재가 이 위에 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[밑받침 철물] 버튼을 눌러 직접 설치해 보세요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AEF107-FDD7-7930-29B0-CF1451DB2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463041"/>
            <a:ext cx="5723622" cy="449884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EC73D7D-5E0D-FC6B-5477-6B111E63A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4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② 기둥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2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② 기둥 설치 직후 (파란색 기둥 4개)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기둥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Standard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비계의 세로 축을 이루며, 상부의 모든 작업 하중을 지면으로 수직 전달하는 핵심 수직 골조 파이프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상부 하중을 밑받침 철물까지 수직으로 전달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띠장·장선·가새 등 모든 부재가 결속되는 기준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간격이 벌어질수록 한 기둥이 받는 하중이 커진다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[기둥] 버튼을 눌러 직접 설치해 보세요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EE601AA-99EE-EE6F-0DC0-A7DF21F50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463804"/>
            <a:ext cx="5688632" cy="4516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BB07472-0D13-CE0B-35DB-5C39476DF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2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③ 밑둥잡이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3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③ 밑둥잡이 설치 직후 (하늘색 하부 수평재)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밑둥잡이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Foot 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비계의 뒤틀림과 벌어짐을 막기 위해 밑받침 철물 바로 위, 지면과 가장 가까운 곳에 설치하는 첫 번째 하부 수평재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기둥 밑부분이 벌어지거나 미끄러지는 것을 방지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인접한 기둥끼리 서로 붙잡아 주는 첫 번째 안전장치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[밑둥잡이] 버튼을 눌러 직접 설치해 보세요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C6268FC-22B1-6645-55F5-E39D6420D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91" y="1463040"/>
            <a:ext cx="5692917" cy="44988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FE480D5-8FA7-0311-E9E7-8B83A7552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13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④ 띠장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4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 dirty="0">
                <a:solidFill>
                  <a:srgbClr val="7F7F7F"/>
                </a:solidFill>
                <a:latin typeface="맑은 고딕"/>
                <a:ea typeface="맑은 고딕"/>
              </a:rPr>
              <a:t>[ 앱 </a:t>
            </a:r>
            <a:r>
              <a:rPr sz="2200" b="1" dirty="0" err="1">
                <a:solidFill>
                  <a:srgbClr val="7F7F7F"/>
                </a:solidFill>
                <a:latin typeface="맑은 고딕"/>
                <a:ea typeface="맑은 고딕"/>
              </a:rPr>
              <a:t>화면</a:t>
            </a:r>
            <a:r>
              <a:rPr sz="2200" b="1" dirty="0">
                <a:solidFill>
                  <a:srgbClr val="7F7F7F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7F7F7F"/>
                </a:solidFill>
                <a:latin typeface="맑은 고딕"/>
                <a:ea typeface="맑은 고딕"/>
              </a:rPr>
              <a:t>캡처</a:t>
            </a:r>
            <a:r>
              <a:rPr sz="2200" b="1" dirty="0">
                <a:solidFill>
                  <a:srgbClr val="7F7F7F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7F7F7F"/>
                </a:solidFill>
                <a:latin typeface="맑은 고딕"/>
                <a:ea typeface="맑은 고딕"/>
              </a:rPr>
              <a:t>삽입</a:t>
            </a:r>
            <a:r>
              <a:rPr sz="2200" b="1" dirty="0">
                <a:solidFill>
                  <a:srgbClr val="7F7F7F"/>
                </a:solidFill>
                <a:latin typeface="맑은 고딕"/>
                <a:ea typeface="맑은 고딕"/>
              </a:rPr>
              <a:t> ]</a:t>
            </a:r>
          </a:p>
          <a:p>
            <a:pPr algn="ctr">
              <a:spcAft>
                <a:spcPts val="200"/>
              </a:spcAft>
            </a:pPr>
            <a:r>
              <a:rPr sz="1300" b="1" dirty="0" err="1">
                <a:solidFill>
                  <a:srgbClr val="595959"/>
                </a:solidFill>
                <a:latin typeface="맑은 고딕"/>
                <a:ea typeface="맑은 고딕"/>
              </a:rPr>
              <a:t>캡처</a:t>
            </a:r>
            <a:r>
              <a:rPr sz="1300" b="1" dirty="0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595959"/>
                </a:solidFill>
                <a:latin typeface="맑은 고딕"/>
                <a:ea typeface="맑은 고딕"/>
              </a:rPr>
              <a:t>장면</a:t>
            </a:r>
            <a:endParaRPr sz="1300" b="1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algn="ctr"/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④ </a:t>
            </a:r>
            <a:r>
              <a:rPr sz="1400" b="0" dirty="0" err="1">
                <a:solidFill>
                  <a:srgbClr val="595959"/>
                </a:solidFill>
                <a:latin typeface="맑은 고딕"/>
                <a:ea typeface="맑은 고딕"/>
              </a:rPr>
              <a:t>띠장</a:t>
            </a:r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맑은 고딕"/>
                <a:ea typeface="맑은 고딕"/>
              </a:rPr>
              <a:t>설치</a:t>
            </a:r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맑은 고딕"/>
                <a:ea typeface="맑은 고딕"/>
              </a:rPr>
              <a:t>직후</a:t>
            </a:r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맑은 고딕"/>
                <a:ea typeface="맑은 고딕"/>
              </a:rPr>
              <a:t>노란색</a:t>
            </a:r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맑은 고딕"/>
                <a:ea typeface="맑은 고딕"/>
              </a:rPr>
              <a:t>가로</a:t>
            </a:r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맑은 고딕"/>
                <a:ea typeface="맑은 고딕"/>
              </a:rPr>
              <a:t>수평재</a:t>
            </a:r>
            <a:r>
              <a:rPr sz="1400" b="0" dirty="0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띠장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기둥과 기둥을 가로(길이) 방향으로 길게 연결하여 무너짐을 막고, 비계 좌우 측면의 강성을 확보하는 주요 수평재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기둥들의 허리를 가로로 묶어 뼈대를 일체화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장선을 올려 받치는 받침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[띠장] 버튼을 눌러 직접 설치해 보세요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8528D33-77D4-8BD1-DDE7-21BB2B2F3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18" y="1463040"/>
            <a:ext cx="5662990" cy="44142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EC1E068-AA95-52EF-5B69-7CC177094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28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⑤ 장선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5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⑤ 장선 설치 직후 (보라색 앞뒤 수평재)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장선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Transom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띠장 위를 앞뒤로 가로질러 설치하는 짧은 수평 파이프로, 작업발판이 놓일 자리를 받쳐 주는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앞뒤 띠장을 서로 연결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작업발판의 후크를 거는 받침대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장선이 기울면 발판이 들뜬다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[장선] 버튼을 눌러 직접 설치해 보세요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5782AF1-4BCB-64CA-EDDC-53B33EC4C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463040"/>
            <a:ext cx="5688632" cy="44142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80B491C-79C0-CF5D-6EB6-338F9B981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11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⑥ 가새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6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⑥ 가새 설치 직후 (주황색 대각선 부재)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가새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Bracing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비계의 수평 변형·비틀림·쓰러짐을 막기 위해 기둥과 수평재에 대각선(경사)으로 체결하는 보강재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91307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사각형 뼈대가 옆으로 찌그러지는 것을 방지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X자 또는 / 형태로 설치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대각선 교차부는 회전형 클램프로 결속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[가새] 버튼을 눌러 직접 설치해 보세요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B7D92CC-884A-9A04-2580-7D0C1ECC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08" y="1463040"/>
            <a:ext cx="5639000" cy="43422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02373F-4FFB-A3B5-886A-D23993BEA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20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⑦ 사다리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7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⑦ 사다리 설치 직후 (노란색 사다리)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사다리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Ladder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작업자가 하부에서 작업발판 층으로 안전하게 오르내릴 수 있도록 비계에 견고하게 결속하는 승강 통로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작업발판 층으로 오르내리는 유일한 통로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비계 띠장에 견고하게 결속하여 흔들림 방지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[사다리] 버튼을 눌러 직접 설치해 보세요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B458517-4703-B195-41FB-FEA77FB4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02" y="1503245"/>
            <a:ext cx="5670606" cy="43740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EAFC58-31E2-EA28-6A3E-72CCBAD10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2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⑧ 작업발판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8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⑧ 작업발판 설치 직후 (은색 발판과 붉은 후크)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1F2937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작업발판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작업자가 서서 통행하고 작업하는 바닥재로, 장선 위에 깔고 양 끝의 붉은 후크를 걸어 고정하는 강판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작업자가 서서 일하고 이동하는 작업 바닥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양 끝 후크를 둘 이상의 장선에 걸어 고정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현장 팁: 발판 3장이 딱 맞으면 정상 간격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[작업발판] 버튼을 눌러 직접 설치해 보세요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5FA5EB6-9E87-92F6-8E38-F8DF8963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463040"/>
            <a:ext cx="5688632" cy="44142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874D879-F7DD-55E1-02B8-8210D1B37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19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⑨ 안전난간 — 용어와 역할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STEP 9 / 9  ·  용어와 역할</a:t>
            </a:r>
          </a:p>
        </p:txBody>
      </p:sp>
      <p:sp>
        <p:nvSpPr>
          <p:cNvPr id="4" name="캡처 자리"/>
          <p:cNvSpPr/>
          <p:nvPr/>
        </p:nvSpPr>
        <p:spPr>
          <a:xfrm>
            <a:off x="411480" y="1417320"/>
            <a:ext cx="5852160" cy="4572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7F7F7F"/>
                </a:solidFill>
                <a:latin typeface="맑은 고딕"/>
                <a:ea typeface="맑은 고딕"/>
              </a:rPr>
              <a:t>[ 앱 화면 캡처 삽입 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</a:rPr>
              <a:t>캡처 장면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맑은 고딕"/>
                <a:ea typeface="맑은 고딕"/>
              </a:rPr>
              <a:t>⑨ 안전난간 설치 직후 (빨간색 난간, 완성 모델)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63040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371600"/>
            <a:ext cx="4572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맑은 고딕"/>
                <a:ea typeface="맑은 고딕"/>
              </a:rPr>
              <a:t>안전난간</a:t>
            </a:r>
            <a:r>
              <a:rPr sz="1800" b="0">
                <a:solidFill>
                  <a:srgbClr val="7F7F7F"/>
                </a:solidFill>
                <a:latin typeface="맑은 고딕"/>
                <a:ea typeface="맑은 고딕"/>
              </a:rPr>
              <a:t>  Guardrail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용어 정의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발판 위 작업자가 밖으로 떨어지지 않도록 상부 난간대·중간 난간대·발끝막이판으로 구성하는 추락 방지 울타리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맑은 고딕"/>
                <a:ea typeface="맑은 고딕"/>
              </a:rPr>
              <a:t>현장에서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5212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작업발판 가장자리의 추락 방지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발끝막이판은 공구·자재의 낙하를 방지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•  조립의 마지막 단계 — 설치 전엔 올라가지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440680"/>
            <a:ext cx="5212080" cy="548640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</a:rPr>
              <a:t>▶ 앱 실습  </a:t>
            </a:r>
            <a:r>
              <a:rPr sz="1400" b="0">
                <a:solidFill>
                  <a:srgbClr val="1F4E79"/>
                </a:solidFill>
                <a:latin typeface="맑은 고딕"/>
                <a:ea typeface="맑은 고딕"/>
              </a:rPr>
              <a:t>[안전난간] 버튼을 눌러 직접 설치해 보세요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E15EA6-9DCD-5F2E-2EE4-AFD6400C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556792"/>
            <a:ext cx="5544616" cy="433460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F55C5A1-65B5-BC5D-7CD6-5A4352596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7384"/>
            <a:ext cx="12192000" cy="612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"/>
          <p:cNvSpPr/>
          <p:nvPr/>
        </p:nvSpPr>
        <p:spPr>
          <a:xfrm>
            <a:off x="4185920" y="2356286"/>
            <a:ext cx="1778000" cy="1645920"/>
          </a:xfrm>
          <a:prstGeom prst="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6000" b="1" dirty="0">
                <a:solidFill>
                  <a:srgbClr val="00B050"/>
                </a:solidFill>
                <a:latin typeface="맑은 고딕"/>
                <a:ea typeface="맑은 고딕" panose="020B0503020000020004" pitchFamily="50" charset="-127"/>
              </a:rPr>
              <a:t>4</a:t>
            </a:r>
            <a:endParaRPr lang="ko-KR" altLang="en-US" sz="6000" b="1" dirty="0">
              <a:solidFill>
                <a:srgbClr val="00B05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0" y="2825303"/>
            <a:ext cx="4402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정리하기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185920" y="1944955"/>
            <a:ext cx="6482080" cy="2425509"/>
            <a:chOff x="2661920" y="1944954"/>
            <a:chExt cx="4281377" cy="2425509"/>
          </a:xfrm>
        </p:grpSpPr>
        <p:grpSp>
          <p:nvGrpSpPr>
            <p:cNvPr id="5" name="그룹 4"/>
            <p:cNvGrpSpPr/>
            <p:nvPr/>
          </p:nvGrpSpPr>
          <p:grpSpPr>
            <a:xfrm>
              <a:off x="2661920" y="1944954"/>
              <a:ext cx="4281377" cy="88709"/>
              <a:chOff x="2712744" y="3972099"/>
              <a:chExt cx="2788173" cy="88711"/>
            </a:xfrm>
          </p:grpSpPr>
          <p:sp>
            <p:nvSpPr>
              <p:cNvPr id="10" name="직사각형 9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2661920" y="4281754"/>
              <a:ext cx="4281377" cy="88709"/>
              <a:chOff x="2712744" y="3972099"/>
              <a:chExt cx="2788173" cy="88711"/>
            </a:xfrm>
          </p:grpSpPr>
          <p:sp>
            <p:nvSpPr>
              <p:cNvPr id="7" name="직사각형 6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직사각형 7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" name="직사각형 8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275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/>
              <a:t>정리하기 </a:t>
            </a:r>
            <a:r>
              <a:rPr lang="en-US" altLang="ko-KR"/>
              <a:t>– </a:t>
            </a:r>
            <a:r>
              <a:rPr lang="ko-KR" altLang="en-US"/>
              <a:t>핵심내용정리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마무리 ·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740664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순서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부위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기준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밑받침 철물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밑받침 철물 사용, 연약지반은 깔판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제59조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  <a:ea typeface="맑은 고딕"/>
                        </a:rPr>
                        <a:t>②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  <a:ea typeface="맑은 고딕"/>
                        </a:rPr>
                        <a:t>기둥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띠장방향 1.85m / 장선방향 1.5m 이하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제60조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284C7"/>
                          </a:solidFill>
                          <a:latin typeface="맑은 고딕"/>
                          <a:ea typeface="맑은 고딕"/>
                        </a:rPr>
                        <a:t>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84C7"/>
                          </a:solidFill>
                          <a:latin typeface="맑은 고딕"/>
                          <a:ea typeface="맑은 고딕"/>
                        </a:rPr>
                        <a:t>밑둥잡이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지면에 최대 근접, 기둥 3개 이상 연결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제59조·KCS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16207"/>
                          </a:solidFill>
                          <a:latin typeface="맑은 고딕"/>
                          <a:ea typeface="맑은 고딕"/>
                        </a:rPr>
                        <a:t>④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16207"/>
                          </a:solidFill>
                          <a:latin typeface="맑은 고딕"/>
                          <a:ea typeface="맑은 고딕"/>
                        </a:rPr>
                        <a:t>띠장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상하 간격 2.0m 이하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제60조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333EA"/>
                          </a:solidFill>
                          <a:latin typeface="맑은 고딕"/>
                          <a:ea typeface="맑은 고딕"/>
                        </a:rPr>
                        <a:t>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333EA"/>
                          </a:solidFill>
                          <a:latin typeface="맑은 고딕"/>
                          <a:ea typeface="맑은 고딕"/>
                        </a:rPr>
                        <a:t>장선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간격 1.85m 이하, 50mm 이상 돌출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KCS 21 60 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A580C"/>
                          </a:solidFill>
                          <a:latin typeface="맑은 고딕"/>
                          <a:ea typeface="맑은 고딕"/>
                        </a:rPr>
                        <a:t>⑥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맑은 고딕"/>
                          <a:ea typeface="맑은 고딕"/>
                        </a:rPr>
                        <a:t>가새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수평면 대비 40°~60°, 회전형 클램프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제59조·KCS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</a:rPr>
                        <a:t>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</a:rPr>
                        <a:t>사다리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60cm 이상 돌출, 폭 30cm 이상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제24조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75569"/>
                          </a:solidFill>
                          <a:latin typeface="맑은 고딕"/>
                          <a:ea typeface="맑은 고딕"/>
                        </a:rPr>
                        <a:t>⑧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75569"/>
                          </a:solidFill>
                          <a:latin typeface="맑은 고딕"/>
                          <a:ea typeface="맑은 고딕"/>
                        </a:rPr>
                        <a:t>작업발판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폭 40cm 이상, 틈 3cm 이하, 400kg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제56·60조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C2626"/>
                          </a:solidFill>
                          <a:latin typeface="맑은 고딕"/>
                          <a:ea typeface="맑은 고딕"/>
                        </a:rPr>
                        <a:t>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C2626"/>
                          </a:solidFill>
                          <a:latin typeface="맑은 고딕"/>
                          <a:ea typeface="맑은 고딕"/>
                        </a:rPr>
                        <a:t>안전난간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상부 90~120cm, 발끝막이판 10cm 이상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제13조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371600"/>
            <a:ext cx="37033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맑은 고딕"/>
                <a:ea typeface="맑은 고딕"/>
              </a:rPr>
              <a:t>기준을 지킬 수 없을 때</a:t>
            </a:r>
            <a:r>
              <a:rPr lang="en-US" altLang="ko-KR" sz="1600" b="1">
                <a:solidFill>
                  <a:srgbClr val="C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600" b="1">
                <a:solidFill>
                  <a:srgbClr val="C00000"/>
                </a:solidFill>
                <a:latin typeface="맑은 고딕"/>
                <a:ea typeface="맑은 고딕"/>
              </a:rPr>
              <a:t>비표준</a:t>
            </a:r>
            <a:r>
              <a:rPr lang="en-US" altLang="ko-KR" sz="1600" b="1">
                <a:solidFill>
                  <a:srgbClr val="C00000"/>
                </a:solidFill>
                <a:latin typeface="맑은 고딕"/>
                <a:ea typeface="맑은 고딕"/>
              </a:rPr>
              <a:t>)</a:t>
            </a:r>
            <a:endParaRPr sz="1600" b="1">
              <a:solidFill>
                <a:srgbClr val="C00000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1874519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210312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1947672"/>
            <a:ext cx="29260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맑은 고딕"/>
                <a:ea typeface="맑은 고딕"/>
              </a:rPr>
              <a:t>임의 시공 금지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현장 판단으로 간격·부재를 바꾸지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88036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0" y="310896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953512"/>
            <a:ext cx="29260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맑은 고딕"/>
                <a:ea typeface="맑은 고딕"/>
              </a:rPr>
              <a:t>구조 검토 의뢰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전문가에게 구조계산을 의뢰한다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8620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0" y="411480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3959352"/>
            <a:ext cx="29260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맑은 고딕"/>
                <a:ea typeface="맑은 고딕"/>
              </a:rPr>
              <a:t>조립도 승인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현장 맞춤 조립도를 작성·승인받는다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892040"/>
            <a:ext cx="3703320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512064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965192"/>
            <a:ext cx="29260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맑은 고딕"/>
                <a:ea typeface="맑은 고딕"/>
              </a:rPr>
              <a:t>도면대로 시공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승인된 도면 기준으로 설치·점검한다</a:t>
            </a:r>
          </a:p>
        </p:txBody>
      </p:sp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7246-A7BA-BD4F-F83B-FB8072A1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F425-2DB2-EAA4-7BA3-F2B499A6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정리하기 </a:t>
            </a:r>
            <a:r>
              <a:rPr lang="en-US" altLang="ko-KR" dirty="0"/>
              <a:t>– </a:t>
            </a:r>
            <a:r>
              <a:rPr lang="ko-KR" altLang="en-US" dirty="0"/>
              <a:t>핵심내용정리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D7315D-6D78-295E-1AC9-DB395A17A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820570"/>
            <a:ext cx="4464496" cy="592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22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참고자료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372C65-C119-4178-AE22-FBA8163452CA}"/>
              </a:ext>
            </a:extLst>
          </p:cNvPr>
          <p:cNvSpPr/>
          <p:nvPr/>
        </p:nvSpPr>
        <p:spPr>
          <a:xfrm>
            <a:off x="479376" y="836712"/>
            <a:ext cx="11377264" cy="3687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산업안전보건기준에 관한 규칙 제13조(안전난간의 구조 및 설치요건)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산업안전보건기준에 관한 규칙 제24조(사다리식 통로 등의 구조)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산업안전보건기준에 관한 규칙 제56조(작업발판의 구조)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산업안전보건기준에 관한 규칙 제59조(강관비계 조립 시의 준수사항), 제60조(강관비계의 구조)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KCS 21 60 10 비계 / KCS 21 60 05 (국가건설기준 표준시방서)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교보재: 표준 강관 비계 설치 시뮬레이터 (scaffold_simulator.html)</a:t>
            </a:r>
            <a:endParaRPr lang="en-US" altLang="ko-KR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7215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</a:t>
            </a:r>
            <a:r>
              <a:rPr lang="en-US" altLang="ko-KR" dirty="0"/>
              <a:t>/</a:t>
            </a:r>
            <a:r>
              <a:rPr lang="ko-KR" altLang="en-US" dirty="0"/>
              <a:t>응답</a:t>
            </a:r>
            <a:endParaRPr lang="en-US" dirty="0"/>
          </a:p>
        </p:txBody>
      </p:sp>
      <p:sp>
        <p:nvSpPr>
          <p:cNvPr id="169" name="제목 1"/>
          <p:cNvSpPr txBox="1">
            <a:spLocks/>
          </p:cNvSpPr>
          <p:nvPr/>
        </p:nvSpPr>
        <p:spPr>
          <a:xfrm>
            <a:off x="2152650" y="276622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2400" b="1" kern="1200" spc="-100" baseline="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dirty="0"/>
              <a:t>Q &amp; A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225262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64808" y="2758199"/>
            <a:ext cx="3163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IB_K820Medium" panose="02020603020101020101" pitchFamily="18" charset="-127"/>
                <a:ea typeface="IB_K820Medium" panose="02020603020101020101" pitchFamily="18" charset="-127"/>
              </a:rPr>
              <a:t>TEXT</a:t>
            </a:r>
            <a:endParaRPr lang="ko-KR" altLang="en-US" sz="3200" b="1">
              <a:solidFill>
                <a:schemeClr val="bg1"/>
              </a:solidFill>
              <a:latin typeface="IB_K820Medium" panose="02020603020101020101" pitchFamily="18" charset="-127"/>
              <a:ea typeface="IB_K820Medium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2040364"/>
            <a:ext cx="4140200" cy="2169975"/>
          </a:xfrm>
          <a:prstGeom prst="rect">
            <a:avLst/>
          </a:prstGeom>
          <a:pattFill prst="ltUpDiag">
            <a:fgClr>
              <a:srgbClr val="00569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011052" y="2040364"/>
            <a:ext cx="4180948" cy="2169975"/>
          </a:xfrm>
          <a:prstGeom prst="rect">
            <a:avLst/>
          </a:prstGeom>
          <a:pattFill prst="ltUpDiag">
            <a:fgClr>
              <a:srgbClr val="00569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537084" y="2445097"/>
            <a:ext cx="50770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THANK</a:t>
            </a:r>
          </a:p>
          <a:p>
            <a:pPr algn="ctr"/>
            <a:r>
              <a:rPr lang="en-US" altLang="ko-KR" sz="44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YOU</a:t>
            </a:r>
            <a:endParaRPr lang="ko-KR" altLang="en-US" sz="44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4236744" y="4121630"/>
            <a:ext cx="3624994" cy="88709"/>
            <a:chOff x="2712744" y="3972099"/>
            <a:chExt cx="2788173" cy="88711"/>
          </a:xfrm>
        </p:grpSpPr>
        <p:sp>
          <p:nvSpPr>
            <p:cNvPr id="8" name="직사각형 7"/>
            <p:cNvSpPr/>
            <p:nvPr/>
          </p:nvSpPr>
          <p:spPr>
            <a:xfrm flipV="1">
              <a:off x="2712744" y="3972099"/>
              <a:ext cx="929391" cy="8871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flipV="1">
              <a:off x="3642135" y="3972099"/>
              <a:ext cx="929391" cy="8871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flipV="1">
              <a:off x="4571526" y="3972099"/>
              <a:ext cx="929391" cy="8871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4236744" y="2040362"/>
            <a:ext cx="3624994" cy="88709"/>
            <a:chOff x="2712744" y="3972099"/>
            <a:chExt cx="2788173" cy="88711"/>
          </a:xfrm>
        </p:grpSpPr>
        <p:sp>
          <p:nvSpPr>
            <p:cNvPr id="12" name="직사각형 11"/>
            <p:cNvSpPr/>
            <p:nvPr/>
          </p:nvSpPr>
          <p:spPr>
            <a:xfrm flipV="1">
              <a:off x="2712744" y="3972099"/>
              <a:ext cx="929391" cy="8871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flipV="1">
              <a:off x="3642135" y="3972099"/>
              <a:ext cx="929391" cy="8871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4571526" y="3972099"/>
              <a:ext cx="929391" cy="8871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>
            <a:grpSpLocks noChangeAspect="1"/>
          </p:cNvGrpSpPr>
          <p:nvPr/>
        </p:nvGrpSpPr>
        <p:grpSpPr>
          <a:xfrm>
            <a:off x="4562388" y="4797159"/>
            <a:ext cx="2973772" cy="637225"/>
            <a:chOff x="6508119" y="5949285"/>
            <a:chExt cx="2478137" cy="53102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119" y="5949285"/>
              <a:ext cx="2374313" cy="227813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6754008" y="6146880"/>
              <a:ext cx="2232248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spc="600" dirty="0">
                  <a:solidFill>
                    <a:srgbClr val="014B9D"/>
                  </a:solidFill>
                  <a:latin typeface="HY수평선M" panose="02030600000101010101" pitchFamily="18" charset="-127"/>
                  <a:ea typeface="HY수평선M" panose="02030600000101010101" pitchFamily="18" charset="-127"/>
                </a:rPr>
                <a:t>인재개발원</a:t>
              </a:r>
              <a:endParaRPr lang="ko-KR" altLang="en-US" sz="1600" b="1" spc="600" dirty="0">
                <a:solidFill>
                  <a:srgbClr val="014B9D"/>
                </a:solidFill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9984194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79646">
            <a:lumMod val="20000"/>
            <a:lumOff val="80000"/>
          </a:srgbClr>
        </a:solidFill>
        <a:ln w="25400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536312" latinLnBrk="0">
          <a:defRPr b="1" kern="0" spc="-55" dirty="0">
            <a:ln>
              <a:solidFill>
                <a:srgbClr val="4F81BD">
                  <a:shade val="50000"/>
                  <a:alpha val="0"/>
                </a:srgbClr>
              </a:solidFill>
            </a:ln>
            <a:solidFill>
              <a:srgbClr val="FF0000"/>
            </a:solidFill>
            <a:latin typeface="Calibri"/>
            <a:ea typeface="맑은 고딕" panose="020B0503020000020004" pitchFamily="50" charset="-127"/>
            <a:cs typeface="맑은 고딕 Semilight" panose="020B0502040204020203" pitchFamily="50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테마1" id="{0C19DD8B-F7FD-4675-BDF3-FB27DB978D7D}" vid="{4B73C10D-0099-4D8D-A380-D7E0208CB62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4465</TotalTime>
  <Words>2328</Words>
  <Application>Microsoft Office PowerPoint</Application>
  <PresentationFormat>와이드스크린</PresentationFormat>
  <Paragraphs>333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3" baseType="lpstr">
      <vt:lpstr>HY견고딕</vt:lpstr>
      <vt:lpstr>HY수평선M</vt:lpstr>
      <vt:lpstr>IB_K820Medium</vt:lpstr>
      <vt:lpstr>굴림</vt:lpstr>
      <vt:lpstr>맑은 고딕</vt:lpstr>
      <vt:lpstr>한수원 한돋움</vt:lpstr>
      <vt:lpstr>한수원 한돋움 Bold</vt:lpstr>
      <vt:lpstr>Arial</vt:lpstr>
      <vt:lpstr>Calibri</vt:lpstr>
      <vt:lpstr>Wingdings</vt:lpstr>
      <vt:lpstr>테마1</vt:lpstr>
      <vt:lpstr>PowerPoint 프레젠테이션</vt:lpstr>
      <vt:lpstr>강사소개</vt:lpstr>
      <vt:lpstr>PowerPoint 프레젠테이션</vt:lpstr>
      <vt:lpstr>Safety Moment</vt:lpstr>
      <vt:lpstr>PowerPoint 프레젠테이션</vt:lpstr>
      <vt:lpstr>PowerPoint 프레젠테이션</vt:lpstr>
      <vt:lpstr>강관비계 9개 부위와 실습 방법</vt:lpstr>
      <vt:lpstr>① 밑받침 철물 — 용어와 역할</vt:lpstr>
      <vt:lpstr>② 기둥 — 용어와 역할</vt:lpstr>
      <vt:lpstr>③ 밑둥잡이 — 용어와 역할</vt:lpstr>
      <vt:lpstr>④ 띠장 — 용어와 역할</vt:lpstr>
      <vt:lpstr>⑤ 장선 — 용어와 역할</vt:lpstr>
      <vt:lpstr>⑥ 가새 — 용어와 역할</vt:lpstr>
      <vt:lpstr>⑦ 사다리 — 용어와 역할</vt:lpstr>
      <vt:lpstr>⑧ 작업발판 — 용어와 역할</vt:lpstr>
      <vt:lpstr>⑨ 안전난간 — 용어와 역할</vt:lpstr>
      <vt:lpstr>PowerPoint 프레젠테이션</vt:lpstr>
      <vt:lpstr>정리하기 – 핵심내용정리</vt:lpstr>
      <vt:lpstr>정리하기 – 핵심내용정리</vt:lpstr>
      <vt:lpstr>참고자료</vt:lpstr>
      <vt:lpstr>질의/응답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239</cp:revision>
  <cp:lastPrinted>2025-05-21T04:01:53Z</cp:lastPrinted>
  <dcterms:created xsi:type="dcterms:W3CDTF">2016-02-18T06:51:14Z</dcterms:created>
  <dcterms:modified xsi:type="dcterms:W3CDTF">2026-10-05T10:44:13Z</dcterms:modified>
</cp:coreProperties>
</file>